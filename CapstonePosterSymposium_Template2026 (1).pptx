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ti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Lst>
  <p:sldSz cx="36576000" cy="27432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8640" userDrawn="1">
          <p15:clr>
            <a:srgbClr val="A4A3A4"/>
          </p15:clr>
        </p15:guide>
        <p15:guide id="2" pos="11520" userDrawn="1">
          <p15:clr>
            <a:srgbClr val="A4A3A4"/>
          </p15:clr>
        </p15:guide>
        <p15:guide id="3" pos="528" userDrawn="1">
          <p15:clr>
            <a:srgbClr val="A4A3A4"/>
          </p15:clr>
        </p15:guide>
        <p15:guide id="4" pos="22416" userDrawn="1">
          <p15:clr>
            <a:srgbClr val="A4A3A4"/>
          </p15:clr>
        </p15:guide>
        <p15:guide id="5" orient="horz" pos="300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47321"/>
    <a:srgbClr val="EC712F"/>
    <a:srgbClr val="FF7D27"/>
    <a:srgbClr val="005030"/>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837" autoAdjust="0"/>
    <p:restoredTop sz="94660"/>
  </p:normalViewPr>
  <p:slideViewPr>
    <p:cSldViewPr snapToGrid="0">
      <p:cViewPr varScale="1">
        <p:scale>
          <a:sx n="32" d="100"/>
          <a:sy n="32" d="100"/>
        </p:scale>
        <p:origin x="3300" y="426"/>
      </p:cViewPr>
      <p:guideLst>
        <p:guide orient="horz" pos="8640"/>
        <p:guide pos="11520"/>
        <p:guide pos="528"/>
        <p:guide pos="22416"/>
        <p:guide orient="horz" pos="300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743200" y="4489452"/>
            <a:ext cx="31089600" cy="9550400"/>
          </a:xfrm>
        </p:spPr>
        <p:txBody>
          <a:bodyPr anchor="b"/>
          <a:lstStyle>
            <a:lvl1pPr algn="ctr">
              <a:defRPr sz="24000"/>
            </a:lvl1pPr>
          </a:lstStyle>
          <a:p>
            <a:r>
              <a:rPr lang="en-US"/>
              <a:t>Click to edit Master title style</a:t>
            </a:r>
            <a:endParaRPr lang="en-US" dirty="0"/>
          </a:p>
        </p:txBody>
      </p:sp>
      <p:sp>
        <p:nvSpPr>
          <p:cNvPr id="3" name="Subtitle 2"/>
          <p:cNvSpPr>
            <a:spLocks noGrp="1"/>
          </p:cNvSpPr>
          <p:nvPr>
            <p:ph type="subTitle" idx="1"/>
          </p:nvPr>
        </p:nvSpPr>
        <p:spPr>
          <a:xfrm>
            <a:off x="4572000" y="14408152"/>
            <a:ext cx="27432000" cy="6623048"/>
          </a:xfrm>
        </p:spPr>
        <p:txBody>
          <a:bodyPr/>
          <a:lstStyle>
            <a:lvl1pPr marL="0" indent="0" algn="ctr">
              <a:buNone/>
              <a:defRPr sz="9600"/>
            </a:lvl1pPr>
            <a:lvl2pPr marL="1828800" indent="0" algn="ctr">
              <a:buNone/>
              <a:defRPr sz="8000"/>
            </a:lvl2pPr>
            <a:lvl3pPr marL="3657600" indent="0" algn="ctr">
              <a:buNone/>
              <a:defRPr sz="7200"/>
            </a:lvl3pPr>
            <a:lvl4pPr marL="5486400" indent="0" algn="ctr">
              <a:buNone/>
              <a:defRPr sz="6400"/>
            </a:lvl4pPr>
            <a:lvl5pPr marL="7315200" indent="0" algn="ctr">
              <a:buNone/>
              <a:defRPr sz="6400"/>
            </a:lvl5pPr>
            <a:lvl6pPr marL="9144000" indent="0" algn="ctr">
              <a:buNone/>
              <a:defRPr sz="6400"/>
            </a:lvl6pPr>
            <a:lvl7pPr marL="10972800" indent="0" algn="ctr">
              <a:buNone/>
              <a:defRPr sz="6400"/>
            </a:lvl7pPr>
            <a:lvl8pPr marL="12801600" indent="0" algn="ctr">
              <a:buNone/>
              <a:defRPr sz="6400"/>
            </a:lvl8pPr>
            <a:lvl9pPr marL="14630400" indent="0" algn="ctr">
              <a:buNone/>
              <a:defRPr sz="64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C6780E8-49FE-4994-9B98-46C6A11A9CC3}" type="datetimeFigureOut">
              <a:rPr lang="en-US" smtClean="0"/>
              <a:t>3/2/2026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195DB8-A3F1-446A-BC37-B70F844BA8FC}" type="slidenum">
              <a:rPr lang="en-US" smtClean="0"/>
              <a:t>‹#›</a:t>
            </a:fld>
            <a:endParaRPr lang="en-US"/>
          </a:p>
        </p:txBody>
      </p:sp>
    </p:spTree>
    <p:extLst>
      <p:ext uri="{BB962C8B-B14F-4D97-AF65-F5344CB8AC3E}">
        <p14:creationId xmlns:p14="http://schemas.microsoft.com/office/powerpoint/2010/main" val="23532890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C6780E8-49FE-4994-9B98-46C6A11A9CC3}" type="datetimeFigureOut">
              <a:rPr lang="en-US" smtClean="0"/>
              <a:t>3/2/2026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195DB8-A3F1-446A-BC37-B70F844BA8FC}" type="slidenum">
              <a:rPr lang="en-US" smtClean="0"/>
              <a:t>‹#›</a:t>
            </a:fld>
            <a:endParaRPr lang="en-US"/>
          </a:p>
        </p:txBody>
      </p:sp>
    </p:spTree>
    <p:extLst>
      <p:ext uri="{BB962C8B-B14F-4D97-AF65-F5344CB8AC3E}">
        <p14:creationId xmlns:p14="http://schemas.microsoft.com/office/powerpoint/2010/main" val="230424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495552" y="6838958"/>
            <a:ext cx="31546800" cy="11410948"/>
          </a:xfrm>
        </p:spPr>
        <p:txBody>
          <a:bodyPr anchor="b"/>
          <a:lstStyle>
            <a:lvl1pPr>
              <a:defRPr sz="24000"/>
            </a:lvl1pPr>
          </a:lstStyle>
          <a:p>
            <a:r>
              <a:rPr lang="en-US"/>
              <a:t>Click to edit Master title style</a:t>
            </a:r>
            <a:endParaRPr lang="en-US" dirty="0"/>
          </a:p>
        </p:txBody>
      </p:sp>
      <p:sp>
        <p:nvSpPr>
          <p:cNvPr id="3" name="Text Placeholder 2"/>
          <p:cNvSpPr>
            <a:spLocks noGrp="1"/>
          </p:cNvSpPr>
          <p:nvPr>
            <p:ph type="body" idx="1"/>
          </p:nvPr>
        </p:nvSpPr>
        <p:spPr>
          <a:xfrm>
            <a:off x="2495552" y="18357858"/>
            <a:ext cx="31546800" cy="6000748"/>
          </a:xfrm>
        </p:spPr>
        <p:txBody>
          <a:bodyPr/>
          <a:lstStyle>
            <a:lvl1pPr marL="0" indent="0">
              <a:buNone/>
              <a:defRPr sz="9600">
                <a:solidFill>
                  <a:schemeClr val="tx1">
                    <a:tint val="82000"/>
                  </a:schemeClr>
                </a:solidFill>
              </a:defRPr>
            </a:lvl1pPr>
            <a:lvl2pPr marL="1828800" indent="0">
              <a:buNone/>
              <a:defRPr sz="8000">
                <a:solidFill>
                  <a:schemeClr val="tx1">
                    <a:tint val="82000"/>
                  </a:schemeClr>
                </a:solidFill>
              </a:defRPr>
            </a:lvl2pPr>
            <a:lvl3pPr marL="3657600" indent="0">
              <a:buNone/>
              <a:defRPr sz="7200">
                <a:solidFill>
                  <a:schemeClr val="tx1">
                    <a:tint val="82000"/>
                  </a:schemeClr>
                </a:solidFill>
              </a:defRPr>
            </a:lvl3pPr>
            <a:lvl4pPr marL="5486400" indent="0">
              <a:buNone/>
              <a:defRPr sz="6400">
                <a:solidFill>
                  <a:schemeClr val="tx1">
                    <a:tint val="82000"/>
                  </a:schemeClr>
                </a:solidFill>
              </a:defRPr>
            </a:lvl4pPr>
            <a:lvl5pPr marL="7315200" indent="0">
              <a:buNone/>
              <a:defRPr sz="6400">
                <a:solidFill>
                  <a:schemeClr val="tx1">
                    <a:tint val="82000"/>
                  </a:schemeClr>
                </a:solidFill>
              </a:defRPr>
            </a:lvl5pPr>
            <a:lvl6pPr marL="9144000" indent="0">
              <a:buNone/>
              <a:defRPr sz="6400">
                <a:solidFill>
                  <a:schemeClr val="tx1">
                    <a:tint val="82000"/>
                  </a:schemeClr>
                </a:solidFill>
              </a:defRPr>
            </a:lvl6pPr>
            <a:lvl7pPr marL="10972800" indent="0">
              <a:buNone/>
              <a:defRPr sz="6400">
                <a:solidFill>
                  <a:schemeClr val="tx1">
                    <a:tint val="82000"/>
                  </a:schemeClr>
                </a:solidFill>
              </a:defRPr>
            </a:lvl7pPr>
            <a:lvl8pPr marL="12801600" indent="0">
              <a:buNone/>
              <a:defRPr sz="6400">
                <a:solidFill>
                  <a:schemeClr val="tx1">
                    <a:tint val="82000"/>
                  </a:schemeClr>
                </a:solidFill>
              </a:defRPr>
            </a:lvl8pPr>
            <a:lvl9pPr marL="14630400" indent="0">
              <a:buNone/>
              <a:defRPr sz="64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C6780E8-49FE-4994-9B98-46C6A11A9CC3}" type="datetimeFigureOut">
              <a:rPr lang="en-US" smtClean="0"/>
              <a:t>3/2/2026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195DB8-A3F1-446A-BC37-B70F844BA8FC}" type="slidenum">
              <a:rPr lang="en-US" smtClean="0"/>
              <a:t>‹#›</a:t>
            </a:fld>
            <a:endParaRPr lang="en-US"/>
          </a:p>
        </p:txBody>
      </p:sp>
    </p:spTree>
    <p:extLst>
      <p:ext uri="{BB962C8B-B14F-4D97-AF65-F5344CB8AC3E}">
        <p14:creationId xmlns:p14="http://schemas.microsoft.com/office/powerpoint/2010/main" val="23013821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14600" y="7302500"/>
            <a:ext cx="15544800" cy="174053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8516600" y="7302500"/>
            <a:ext cx="15544800" cy="174053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C6780E8-49FE-4994-9B98-46C6A11A9CC3}" type="datetimeFigureOut">
              <a:rPr lang="en-US" smtClean="0"/>
              <a:t>3/2/2026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E195DB8-A3F1-446A-BC37-B70F844BA8FC}" type="slidenum">
              <a:rPr lang="en-US" smtClean="0"/>
              <a:t>‹#›</a:t>
            </a:fld>
            <a:endParaRPr lang="en-US"/>
          </a:p>
        </p:txBody>
      </p:sp>
    </p:spTree>
    <p:extLst>
      <p:ext uri="{BB962C8B-B14F-4D97-AF65-F5344CB8AC3E}">
        <p14:creationId xmlns:p14="http://schemas.microsoft.com/office/powerpoint/2010/main" val="42856881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519364" y="1460506"/>
            <a:ext cx="31546800" cy="5302252"/>
          </a:xfrm>
        </p:spPr>
        <p:txBody>
          <a:bodyPr/>
          <a:lstStyle/>
          <a:p>
            <a:r>
              <a:rPr lang="en-US"/>
              <a:t>Click to edit Master title style</a:t>
            </a:r>
            <a:endParaRPr lang="en-US" dirty="0"/>
          </a:p>
        </p:txBody>
      </p:sp>
      <p:sp>
        <p:nvSpPr>
          <p:cNvPr id="3" name="Text Placeholder 2"/>
          <p:cNvSpPr>
            <a:spLocks noGrp="1"/>
          </p:cNvSpPr>
          <p:nvPr>
            <p:ph type="body" idx="1"/>
          </p:nvPr>
        </p:nvSpPr>
        <p:spPr>
          <a:xfrm>
            <a:off x="2519368" y="6724652"/>
            <a:ext cx="15473360" cy="3295648"/>
          </a:xfrm>
        </p:spPr>
        <p:txBody>
          <a:bodyPr anchor="b"/>
          <a:lstStyle>
            <a:lvl1pPr marL="0" indent="0">
              <a:buNone/>
              <a:defRPr sz="9600" b="1"/>
            </a:lvl1pPr>
            <a:lvl2pPr marL="1828800" indent="0">
              <a:buNone/>
              <a:defRPr sz="8000" b="1"/>
            </a:lvl2pPr>
            <a:lvl3pPr marL="3657600" indent="0">
              <a:buNone/>
              <a:defRPr sz="7200" b="1"/>
            </a:lvl3pPr>
            <a:lvl4pPr marL="5486400" indent="0">
              <a:buNone/>
              <a:defRPr sz="6400" b="1"/>
            </a:lvl4pPr>
            <a:lvl5pPr marL="7315200" indent="0">
              <a:buNone/>
              <a:defRPr sz="6400" b="1"/>
            </a:lvl5pPr>
            <a:lvl6pPr marL="9144000" indent="0">
              <a:buNone/>
              <a:defRPr sz="6400" b="1"/>
            </a:lvl6pPr>
            <a:lvl7pPr marL="10972800" indent="0">
              <a:buNone/>
              <a:defRPr sz="6400" b="1"/>
            </a:lvl7pPr>
            <a:lvl8pPr marL="12801600" indent="0">
              <a:buNone/>
              <a:defRPr sz="6400" b="1"/>
            </a:lvl8pPr>
            <a:lvl9pPr marL="14630400" indent="0">
              <a:buNone/>
              <a:defRPr sz="6400" b="1"/>
            </a:lvl9pPr>
          </a:lstStyle>
          <a:p>
            <a:pPr lvl="0"/>
            <a:r>
              <a:rPr lang="en-US"/>
              <a:t>Click to edit Master text styles</a:t>
            </a:r>
          </a:p>
        </p:txBody>
      </p:sp>
      <p:sp>
        <p:nvSpPr>
          <p:cNvPr id="4" name="Content Placeholder 3"/>
          <p:cNvSpPr>
            <a:spLocks noGrp="1"/>
          </p:cNvSpPr>
          <p:nvPr>
            <p:ph sz="half" idx="2"/>
          </p:nvPr>
        </p:nvSpPr>
        <p:spPr>
          <a:xfrm>
            <a:off x="2519368" y="10020300"/>
            <a:ext cx="15473360" cy="147383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8516602" y="6724652"/>
            <a:ext cx="15549564" cy="3295648"/>
          </a:xfrm>
        </p:spPr>
        <p:txBody>
          <a:bodyPr anchor="b"/>
          <a:lstStyle>
            <a:lvl1pPr marL="0" indent="0">
              <a:buNone/>
              <a:defRPr sz="9600" b="1"/>
            </a:lvl1pPr>
            <a:lvl2pPr marL="1828800" indent="0">
              <a:buNone/>
              <a:defRPr sz="8000" b="1"/>
            </a:lvl2pPr>
            <a:lvl3pPr marL="3657600" indent="0">
              <a:buNone/>
              <a:defRPr sz="7200" b="1"/>
            </a:lvl3pPr>
            <a:lvl4pPr marL="5486400" indent="0">
              <a:buNone/>
              <a:defRPr sz="6400" b="1"/>
            </a:lvl4pPr>
            <a:lvl5pPr marL="7315200" indent="0">
              <a:buNone/>
              <a:defRPr sz="6400" b="1"/>
            </a:lvl5pPr>
            <a:lvl6pPr marL="9144000" indent="0">
              <a:buNone/>
              <a:defRPr sz="6400" b="1"/>
            </a:lvl6pPr>
            <a:lvl7pPr marL="10972800" indent="0">
              <a:buNone/>
              <a:defRPr sz="6400" b="1"/>
            </a:lvl7pPr>
            <a:lvl8pPr marL="12801600" indent="0">
              <a:buNone/>
              <a:defRPr sz="6400" b="1"/>
            </a:lvl8pPr>
            <a:lvl9pPr marL="14630400" indent="0">
              <a:buNone/>
              <a:defRPr sz="6400" b="1"/>
            </a:lvl9pPr>
          </a:lstStyle>
          <a:p>
            <a:pPr lvl="0"/>
            <a:r>
              <a:rPr lang="en-US"/>
              <a:t>Click to edit Master text styles</a:t>
            </a:r>
          </a:p>
        </p:txBody>
      </p:sp>
      <p:sp>
        <p:nvSpPr>
          <p:cNvPr id="6" name="Content Placeholder 5"/>
          <p:cNvSpPr>
            <a:spLocks noGrp="1"/>
          </p:cNvSpPr>
          <p:nvPr>
            <p:ph sz="quarter" idx="4"/>
          </p:nvPr>
        </p:nvSpPr>
        <p:spPr>
          <a:xfrm>
            <a:off x="18516602" y="10020300"/>
            <a:ext cx="15549564" cy="147383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C6780E8-49FE-4994-9B98-46C6A11A9CC3}" type="datetimeFigureOut">
              <a:rPr lang="en-US" smtClean="0"/>
              <a:t>3/2/2026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E195DB8-A3F1-446A-BC37-B70F844BA8FC}" type="slidenum">
              <a:rPr lang="en-US" smtClean="0"/>
              <a:t>‹#›</a:t>
            </a:fld>
            <a:endParaRPr lang="en-US"/>
          </a:p>
        </p:txBody>
      </p:sp>
    </p:spTree>
    <p:extLst>
      <p:ext uri="{BB962C8B-B14F-4D97-AF65-F5344CB8AC3E}">
        <p14:creationId xmlns:p14="http://schemas.microsoft.com/office/powerpoint/2010/main" val="19130281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C6780E8-49FE-4994-9B98-46C6A11A9CC3}" type="datetimeFigureOut">
              <a:rPr lang="en-US" smtClean="0"/>
              <a:t>3/2/2026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E195DB8-A3F1-446A-BC37-B70F844BA8FC}" type="slidenum">
              <a:rPr lang="en-US" smtClean="0"/>
              <a:t>‹#›</a:t>
            </a:fld>
            <a:endParaRPr lang="en-US"/>
          </a:p>
        </p:txBody>
      </p:sp>
    </p:spTree>
    <p:extLst>
      <p:ext uri="{BB962C8B-B14F-4D97-AF65-F5344CB8AC3E}">
        <p14:creationId xmlns:p14="http://schemas.microsoft.com/office/powerpoint/2010/main" val="32735497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C6780E8-49FE-4994-9B98-46C6A11A9CC3}" type="datetimeFigureOut">
              <a:rPr lang="en-US" smtClean="0"/>
              <a:t>3/2/2026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E195DB8-A3F1-446A-BC37-B70F844BA8FC}" type="slidenum">
              <a:rPr lang="en-US" smtClean="0"/>
              <a:t>‹#›</a:t>
            </a:fld>
            <a:endParaRPr lang="en-US"/>
          </a:p>
        </p:txBody>
      </p:sp>
    </p:spTree>
    <p:extLst>
      <p:ext uri="{BB962C8B-B14F-4D97-AF65-F5344CB8AC3E}">
        <p14:creationId xmlns:p14="http://schemas.microsoft.com/office/powerpoint/2010/main" val="276564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19364" y="1828800"/>
            <a:ext cx="11796712" cy="6400800"/>
          </a:xfrm>
        </p:spPr>
        <p:txBody>
          <a:bodyPr anchor="b"/>
          <a:lstStyle>
            <a:lvl1pPr>
              <a:defRPr sz="12800"/>
            </a:lvl1pPr>
          </a:lstStyle>
          <a:p>
            <a:r>
              <a:rPr lang="en-US"/>
              <a:t>Click to edit Master title style</a:t>
            </a:r>
            <a:endParaRPr lang="en-US" dirty="0"/>
          </a:p>
        </p:txBody>
      </p:sp>
      <p:sp>
        <p:nvSpPr>
          <p:cNvPr id="3" name="Content Placeholder 2"/>
          <p:cNvSpPr>
            <a:spLocks noGrp="1"/>
          </p:cNvSpPr>
          <p:nvPr>
            <p:ph idx="1"/>
          </p:nvPr>
        </p:nvSpPr>
        <p:spPr>
          <a:xfrm>
            <a:off x="15549564" y="3949706"/>
            <a:ext cx="18516600" cy="19494500"/>
          </a:xfrm>
        </p:spPr>
        <p:txBody>
          <a:bodyPr/>
          <a:lstStyle>
            <a:lvl1pPr>
              <a:defRPr sz="12800"/>
            </a:lvl1pPr>
            <a:lvl2pPr>
              <a:defRPr sz="11200"/>
            </a:lvl2pPr>
            <a:lvl3pPr>
              <a:defRPr sz="9600"/>
            </a:lvl3pPr>
            <a:lvl4pPr>
              <a:defRPr sz="8000"/>
            </a:lvl4pPr>
            <a:lvl5pPr>
              <a:defRPr sz="8000"/>
            </a:lvl5pPr>
            <a:lvl6pPr>
              <a:defRPr sz="8000"/>
            </a:lvl6pPr>
            <a:lvl7pPr>
              <a:defRPr sz="8000"/>
            </a:lvl7pPr>
            <a:lvl8pPr>
              <a:defRPr sz="8000"/>
            </a:lvl8pPr>
            <a:lvl9pPr>
              <a:defRPr sz="8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19364" y="8229600"/>
            <a:ext cx="11796712" cy="15246352"/>
          </a:xfrm>
        </p:spPr>
        <p:txBody>
          <a:bodyPr/>
          <a:lstStyle>
            <a:lvl1pPr marL="0" indent="0">
              <a:buNone/>
              <a:defRPr sz="6400"/>
            </a:lvl1pPr>
            <a:lvl2pPr marL="1828800" indent="0">
              <a:buNone/>
              <a:defRPr sz="5600"/>
            </a:lvl2pPr>
            <a:lvl3pPr marL="3657600" indent="0">
              <a:buNone/>
              <a:defRPr sz="4800"/>
            </a:lvl3pPr>
            <a:lvl4pPr marL="5486400" indent="0">
              <a:buNone/>
              <a:defRPr sz="4000"/>
            </a:lvl4pPr>
            <a:lvl5pPr marL="7315200" indent="0">
              <a:buNone/>
              <a:defRPr sz="4000"/>
            </a:lvl5pPr>
            <a:lvl6pPr marL="9144000" indent="0">
              <a:buNone/>
              <a:defRPr sz="4000"/>
            </a:lvl6pPr>
            <a:lvl7pPr marL="10972800" indent="0">
              <a:buNone/>
              <a:defRPr sz="4000"/>
            </a:lvl7pPr>
            <a:lvl8pPr marL="12801600" indent="0">
              <a:buNone/>
              <a:defRPr sz="4000"/>
            </a:lvl8pPr>
            <a:lvl9pPr marL="14630400" indent="0">
              <a:buNone/>
              <a:defRPr sz="4000"/>
            </a:lvl9pPr>
          </a:lstStyle>
          <a:p>
            <a:pPr lvl="0"/>
            <a:r>
              <a:rPr lang="en-US"/>
              <a:t>Click to edit Master text styles</a:t>
            </a:r>
          </a:p>
        </p:txBody>
      </p:sp>
      <p:sp>
        <p:nvSpPr>
          <p:cNvPr id="5" name="Date Placeholder 4"/>
          <p:cNvSpPr>
            <a:spLocks noGrp="1"/>
          </p:cNvSpPr>
          <p:nvPr>
            <p:ph type="dt" sz="half" idx="10"/>
          </p:nvPr>
        </p:nvSpPr>
        <p:spPr/>
        <p:txBody>
          <a:bodyPr/>
          <a:lstStyle/>
          <a:p>
            <a:fld id="{3C6780E8-49FE-4994-9B98-46C6A11A9CC3}" type="datetimeFigureOut">
              <a:rPr lang="en-US" smtClean="0"/>
              <a:t>3/2/2026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E195DB8-A3F1-446A-BC37-B70F844BA8FC}" type="slidenum">
              <a:rPr lang="en-US" smtClean="0"/>
              <a:t>‹#›</a:t>
            </a:fld>
            <a:endParaRPr lang="en-US"/>
          </a:p>
        </p:txBody>
      </p:sp>
    </p:spTree>
    <p:extLst>
      <p:ext uri="{BB962C8B-B14F-4D97-AF65-F5344CB8AC3E}">
        <p14:creationId xmlns:p14="http://schemas.microsoft.com/office/powerpoint/2010/main" val="13028947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19364" y="1828800"/>
            <a:ext cx="11796712" cy="6400800"/>
          </a:xfrm>
        </p:spPr>
        <p:txBody>
          <a:bodyPr anchor="b"/>
          <a:lstStyle>
            <a:lvl1pPr>
              <a:defRPr sz="1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5549564" y="3949706"/>
            <a:ext cx="18516600" cy="19494500"/>
          </a:xfrm>
        </p:spPr>
        <p:txBody>
          <a:bodyPr anchor="t"/>
          <a:lstStyle>
            <a:lvl1pPr marL="0" indent="0">
              <a:buNone/>
              <a:defRPr sz="12800"/>
            </a:lvl1pPr>
            <a:lvl2pPr marL="1828800" indent="0">
              <a:buNone/>
              <a:defRPr sz="11200"/>
            </a:lvl2pPr>
            <a:lvl3pPr marL="3657600" indent="0">
              <a:buNone/>
              <a:defRPr sz="9600"/>
            </a:lvl3pPr>
            <a:lvl4pPr marL="5486400" indent="0">
              <a:buNone/>
              <a:defRPr sz="8000"/>
            </a:lvl4pPr>
            <a:lvl5pPr marL="7315200" indent="0">
              <a:buNone/>
              <a:defRPr sz="8000"/>
            </a:lvl5pPr>
            <a:lvl6pPr marL="9144000" indent="0">
              <a:buNone/>
              <a:defRPr sz="8000"/>
            </a:lvl6pPr>
            <a:lvl7pPr marL="10972800" indent="0">
              <a:buNone/>
              <a:defRPr sz="8000"/>
            </a:lvl7pPr>
            <a:lvl8pPr marL="12801600" indent="0">
              <a:buNone/>
              <a:defRPr sz="8000"/>
            </a:lvl8pPr>
            <a:lvl9pPr marL="14630400" indent="0">
              <a:buNone/>
              <a:defRPr sz="8000"/>
            </a:lvl9pPr>
          </a:lstStyle>
          <a:p>
            <a:r>
              <a:rPr lang="en-US"/>
              <a:t>Click icon to add picture</a:t>
            </a:r>
            <a:endParaRPr lang="en-US" dirty="0"/>
          </a:p>
        </p:txBody>
      </p:sp>
      <p:sp>
        <p:nvSpPr>
          <p:cNvPr id="4" name="Text Placeholder 3"/>
          <p:cNvSpPr>
            <a:spLocks noGrp="1"/>
          </p:cNvSpPr>
          <p:nvPr>
            <p:ph type="body" sz="half" idx="2"/>
          </p:nvPr>
        </p:nvSpPr>
        <p:spPr>
          <a:xfrm>
            <a:off x="2519364" y="8229600"/>
            <a:ext cx="11796712" cy="15246352"/>
          </a:xfrm>
        </p:spPr>
        <p:txBody>
          <a:bodyPr/>
          <a:lstStyle>
            <a:lvl1pPr marL="0" indent="0">
              <a:buNone/>
              <a:defRPr sz="6400"/>
            </a:lvl1pPr>
            <a:lvl2pPr marL="1828800" indent="0">
              <a:buNone/>
              <a:defRPr sz="5600"/>
            </a:lvl2pPr>
            <a:lvl3pPr marL="3657600" indent="0">
              <a:buNone/>
              <a:defRPr sz="4800"/>
            </a:lvl3pPr>
            <a:lvl4pPr marL="5486400" indent="0">
              <a:buNone/>
              <a:defRPr sz="4000"/>
            </a:lvl4pPr>
            <a:lvl5pPr marL="7315200" indent="0">
              <a:buNone/>
              <a:defRPr sz="4000"/>
            </a:lvl5pPr>
            <a:lvl6pPr marL="9144000" indent="0">
              <a:buNone/>
              <a:defRPr sz="4000"/>
            </a:lvl6pPr>
            <a:lvl7pPr marL="10972800" indent="0">
              <a:buNone/>
              <a:defRPr sz="4000"/>
            </a:lvl7pPr>
            <a:lvl8pPr marL="12801600" indent="0">
              <a:buNone/>
              <a:defRPr sz="4000"/>
            </a:lvl8pPr>
            <a:lvl9pPr marL="14630400" indent="0">
              <a:buNone/>
              <a:defRPr sz="4000"/>
            </a:lvl9pPr>
          </a:lstStyle>
          <a:p>
            <a:pPr lvl="0"/>
            <a:r>
              <a:rPr lang="en-US"/>
              <a:t>Click to edit Master text styles</a:t>
            </a:r>
          </a:p>
        </p:txBody>
      </p:sp>
      <p:sp>
        <p:nvSpPr>
          <p:cNvPr id="5" name="Date Placeholder 4"/>
          <p:cNvSpPr>
            <a:spLocks noGrp="1"/>
          </p:cNvSpPr>
          <p:nvPr>
            <p:ph type="dt" sz="half" idx="10"/>
          </p:nvPr>
        </p:nvSpPr>
        <p:spPr/>
        <p:txBody>
          <a:bodyPr/>
          <a:lstStyle/>
          <a:p>
            <a:fld id="{3C6780E8-49FE-4994-9B98-46C6A11A9CC3}" type="datetimeFigureOut">
              <a:rPr lang="en-US" smtClean="0"/>
              <a:t>3/2/2026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E195DB8-A3F1-446A-BC37-B70F844BA8FC}" type="slidenum">
              <a:rPr lang="en-US" smtClean="0"/>
              <a:t>‹#›</a:t>
            </a:fld>
            <a:endParaRPr lang="en-US"/>
          </a:p>
        </p:txBody>
      </p:sp>
    </p:spTree>
    <p:extLst>
      <p:ext uri="{BB962C8B-B14F-4D97-AF65-F5344CB8AC3E}">
        <p14:creationId xmlns:p14="http://schemas.microsoft.com/office/powerpoint/2010/main" val="4934395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C6780E8-49FE-4994-9B98-46C6A11A9CC3}" type="datetimeFigureOut">
              <a:rPr lang="en-US" smtClean="0"/>
              <a:t>3/2/2026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195DB8-A3F1-446A-BC37-B70F844BA8FC}" type="slidenum">
              <a:rPr lang="en-US" smtClean="0"/>
              <a:t>‹#›</a:t>
            </a:fld>
            <a:endParaRPr lang="en-US"/>
          </a:p>
        </p:txBody>
      </p:sp>
    </p:spTree>
    <p:extLst>
      <p:ext uri="{BB962C8B-B14F-4D97-AF65-F5344CB8AC3E}">
        <p14:creationId xmlns:p14="http://schemas.microsoft.com/office/powerpoint/2010/main" val="34451319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6174702" y="1460500"/>
            <a:ext cx="7886700" cy="2324735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514602" y="1460500"/>
            <a:ext cx="23202900" cy="2324735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C6780E8-49FE-4994-9B98-46C6A11A9CC3}" type="datetimeFigureOut">
              <a:rPr lang="en-US" smtClean="0"/>
              <a:t>3/2/2026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195DB8-A3F1-446A-BC37-B70F844BA8FC}" type="slidenum">
              <a:rPr lang="en-US" smtClean="0"/>
              <a:t>‹#›</a:t>
            </a:fld>
            <a:endParaRPr lang="en-US"/>
          </a:p>
        </p:txBody>
      </p:sp>
    </p:spTree>
    <p:extLst>
      <p:ext uri="{BB962C8B-B14F-4D97-AF65-F5344CB8AC3E}">
        <p14:creationId xmlns:p14="http://schemas.microsoft.com/office/powerpoint/2010/main" val="22371082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514600" y="1460506"/>
            <a:ext cx="31546800" cy="530225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514600" y="7302500"/>
            <a:ext cx="31546800" cy="1740535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514600" y="25425406"/>
            <a:ext cx="8229600" cy="1460500"/>
          </a:xfrm>
          <a:prstGeom prst="rect">
            <a:avLst/>
          </a:prstGeom>
        </p:spPr>
        <p:txBody>
          <a:bodyPr vert="horz" lIns="91440" tIns="45720" rIns="91440" bIns="45720" rtlCol="0" anchor="ctr"/>
          <a:lstStyle>
            <a:lvl1pPr algn="l">
              <a:defRPr sz="4800">
                <a:solidFill>
                  <a:schemeClr val="tx1">
                    <a:tint val="82000"/>
                  </a:schemeClr>
                </a:solidFill>
              </a:defRPr>
            </a:lvl1pPr>
          </a:lstStyle>
          <a:p>
            <a:fld id="{3C6780E8-49FE-4994-9B98-46C6A11A9CC3}" type="datetimeFigureOut">
              <a:rPr lang="en-US" smtClean="0"/>
              <a:t>3/2/2026</a:t>
            </a:fld>
            <a:endParaRPr lang="en-US"/>
          </a:p>
        </p:txBody>
      </p:sp>
      <p:sp>
        <p:nvSpPr>
          <p:cNvPr id="5" name="Footer Placeholder 4"/>
          <p:cNvSpPr>
            <a:spLocks noGrp="1"/>
          </p:cNvSpPr>
          <p:nvPr>
            <p:ph type="ftr" sz="quarter" idx="3"/>
          </p:nvPr>
        </p:nvSpPr>
        <p:spPr>
          <a:xfrm>
            <a:off x="12115800" y="25425406"/>
            <a:ext cx="12344400" cy="1460500"/>
          </a:xfrm>
          <a:prstGeom prst="rect">
            <a:avLst/>
          </a:prstGeom>
        </p:spPr>
        <p:txBody>
          <a:bodyPr vert="horz" lIns="91440" tIns="45720" rIns="91440" bIns="45720" rtlCol="0" anchor="ctr"/>
          <a:lstStyle>
            <a:lvl1pPr algn="ctr">
              <a:defRPr sz="48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25831800" y="25425406"/>
            <a:ext cx="8229600" cy="1460500"/>
          </a:xfrm>
          <a:prstGeom prst="rect">
            <a:avLst/>
          </a:prstGeom>
        </p:spPr>
        <p:txBody>
          <a:bodyPr vert="horz" lIns="91440" tIns="45720" rIns="91440" bIns="45720" rtlCol="0" anchor="ctr"/>
          <a:lstStyle>
            <a:lvl1pPr algn="r">
              <a:defRPr sz="4800">
                <a:solidFill>
                  <a:schemeClr val="tx1">
                    <a:tint val="82000"/>
                  </a:schemeClr>
                </a:solidFill>
              </a:defRPr>
            </a:lvl1pPr>
          </a:lstStyle>
          <a:p>
            <a:fld id="{3E195DB8-A3F1-446A-BC37-B70F844BA8FC}" type="slidenum">
              <a:rPr lang="en-US" smtClean="0"/>
              <a:t>‹#›</a:t>
            </a:fld>
            <a:endParaRPr lang="en-US"/>
          </a:p>
        </p:txBody>
      </p:sp>
    </p:spTree>
    <p:extLst>
      <p:ext uri="{BB962C8B-B14F-4D97-AF65-F5344CB8AC3E}">
        <p14:creationId xmlns:p14="http://schemas.microsoft.com/office/powerpoint/2010/main" val="250735293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3657600" rtl="0" eaLnBrk="1" latinLnBrk="0" hangingPunct="1">
        <a:lnSpc>
          <a:spcPct val="90000"/>
        </a:lnSpc>
        <a:spcBef>
          <a:spcPct val="0"/>
        </a:spcBef>
        <a:buNone/>
        <a:defRPr sz="17600" kern="1200">
          <a:solidFill>
            <a:schemeClr val="tx1"/>
          </a:solidFill>
          <a:latin typeface="+mj-lt"/>
          <a:ea typeface="+mj-ea"/>
          <a:cs typeface="+mj-cs"/>
        </a:defRPr>
      </a:lvl1pPr>
    </p:titleStyle>
    <p:bodyStyle>
      <a:lvl1pPr marL="914400" indent="-914400" algn="l" defTabSz="3657600" rtl="0" eaLnBrk="1" latinLnBrk="0" hangingPunct="1">
        <a:lnSpc>
          <a:spcPct val="90000"/>
        </a:lnSpc>
        <a:spcBef>
          <a:spcPts val="4000"/>
        </a:spcBef>
        <a:buFont typeface="Arial" panose="020B0604020202020204" pitchFamily="34" charset="0"/>
        <a:buChar char="•"/>
        <a:defRPr sz="11200" kern="1200">
          <a:solidFill>
            <a:schemeClr val="tx1"/>
          </a:solidFill>
          <a:latin typeface="+mn-lt"/>
          <a:ea typeface="+mn-ea"/>
          <a:cs typeface="+mn-cs"/>
        </a:defRPr>
      </a:lvl1pPr>
      <a:lvl2pPr marL="2743200" indent="-914400" algn="l" defTabSz="3657600" rtl="0" eaLnBrk="1" latinLnBrk="0" hangingPunct="1">
        <a:lnSpc>
          <a:spcPct val="90000"/>
        </a:lnSpc>
        <a:spcBef>
          <a:spcPts val="2000"/>
        </a:spcBef>
        <a:buFont typeface="Arial" panose="020B0604020202020204" pitchFamily="34" charset="0"/>
        <a:buChar char="•"/>
        <a:defRPr sz="9600" kern="1200">
          <a:solidFill>
            <a:schemeClr val="tx1"/>
          </a:solidFill>
          <a:latin typeface="+mn-lt"/>
          <a:ea typeface="+mn-ea"/>
          <a:cs typeface="+mn-cs"/>
        </a:defRPr>
      </a:lvl2pPr>
      <a:lvl3pPr marL="4572000" indent="-914400" algn="l" defTabSz="3657600" rtl="0" eaLnBrk="1" latinLnBrk="0" hangingPunct="1">
        <a:lnSpc>
          <a:spcPct val="90000"/>
        </a:lnSpc>
        <a:spcBef>
          <a:spcPts val="2000"/>
        </a:spcBef>
        <a:buFont typeface="Arial" panose="020B0604020202020204" pitchFamily="34" charset="0"/>
        <a:buChar char="•"/>
        <a:defRPr sz="8000" kern="1200">
          <a:solidFill>
            <a:schemeClr val="tx1"/>
          </a:solidFill>
          <a:latin typeface="+mn-lt"/>
          <a:ea typeface="+mn-ea"/>
          <a:cs typeface="+mn-cs"/>
        </a:defRPr>
      </a:lvl3pPr>
      <a:lvl4pPr marL="64008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4pPr>
      <a:lvl5pPr marL="82296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5pPr>
      <a:lvl6pPr marL="100584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6pPr>
      <a:lvl7pPr marL="118872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7pPr>
      <a:lvl8pPr marL="137160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8pPr>
      <a:lvl9pPr marL="15544800" indent="-914400" algn="l" defTabSz="3657600" rtl="0" eaLnBrk="1" latinLnBrk="0" hangingPunct="1">
        <a:lnSpc>
          <a:spcPct val="90000"/>
        </a:lnSpc>
        <a:spcBef>
          <a:spcPts val="2000"/>
        </a:spcBef>
        <a:buFont typeface="Arial" panose="020B0604020202020204" pitchFamily="34" charset="0"/>
        <a:buChar char="•"/>
        <a:defRPr sz="7200" kern="1200">
          <a:solidFill>
            <a:schemeClr val="tx1"/>
          </a:solidFill>
          <a:latin typeface="+mn-lt"/>
          <a:ea typeface="+mn-ea"/>
          <a:cs typeface="+mn-cs"/>
        </a:defRPr>
      </a:lvl9pPr>
    </p:bodyStyle>
    <p:otherStyle>
      <a:defPPr>
        <a:defRPr lang="en-US"/>
      </a:defPPr>
      <a:lvl1pPr marL="0" algn="l" defTabSz="3657600" rtl="0" eaLnBrk="1" latinLnBrk="0" hangingPunct="1">
        <a:defRPr sz="7200" kern="1200">
          <a:solidFill>
            <a:schemeClr val="tx1"/>
          </a:solidFill>
          <a:latin typeface="+mn-lt"/>
          <a:ea typeface="+mn-ea"/>
          <a:cs typeface="+mn-cs"/>
        </a:defRPr>
      </a:lvl1pPr>
      <a:lvl2pPr marL="1828800" algn="l" defTabSz="3657600" rtl="0" eaLnBrk="1" latinLnBrk="0" hangingPunct="1">
        <a:defRPr sz="7200" kern="1200">
          <a:solidFill>
            <a:schemeClr val="tx1"/>
          </a:solidFill>
          <a:latin typeface="+mn-lt"/>
          <a:ea typeface="+mn-ea"/>
          <a:cs typeface="+mn-cs"/>
        </a:defRPr>
      </a:lvl2pPr>
      <a:lvl3pPr marL="3657600" algn="l" defTabSz="3657600" rtl="0" eaLnBrk="1" latinLnBrk="0" hangingPunct="1">
        <a:defRPr sz="7200" kern="1200">
          <a:solidFill>
            <a:schemeClr val="tx1"/>
          </a:solidFill>
          <a:latin typeface="+mn-lt"/>
          <a:ea typeface="+mn-ea"/>
          <a:cs typeface="+mn-cs"/>
        </a:defRPr>
      </a:lvl3pPr>
      <a:lvl4pPr marL="5486400" algn="l" defTabSz="3657600" rtl="0" eaLnBrk="1" latinLnBrk="0" hangingPunct="1">
        <a:defRPr sz="7200" kern="1200">
          <a:solidFill>
            <a:schemeClr val="tx1"/>
          </a:solidFill>
          <a:latin typeface="+mn-lt"/>
          <a:ea typeface="+mn-ea"/>
          <a:cs typeface="+mn-cs"/>
        </a:defRPr>
      </a:lvl4pPr>
      <a:lvl5pPr marL="7315200" algn="l" defTabSz="3657600" rtl="0" eaLnBrk="1" latinLnBrk="0" hangingPunct="1">
        <a:defRPr sz="7200" kern="1200">
          <a:solidFill>
            <a:schemeClr val="tx1"/>
          </a:solidFill>
          <a:latin typeface="+mn-lt"/>
          <a:ea typeface="+mn-ea"/>
          <a:cs typeface="+mn-cs"/>
        </a:defRPr>
      </a:lvl5pPr>
      <a:lvl6pPr marL="9144000" algn="l" defTabSz="3657600" rtl="0" eaLnBrk="1" latinLnBrk="0" hangingPunct="1">
        <a:defRPr sz="7200" kern="1200">
          <a:solidFill>
            <a:schemeClr val="tx1"/>
          </a:solidFill>
          <a:latin typeface="+mn-lt"/>
          <a:ea typeface="+mn-ea"/>
          <a:cs typeface="+mn-cs"/>
        </a:defRPr>
      </a:lvl6pPr>
      <a:lvl7pPr marL="10972800" algn="l" defTabSz="3657600" rtl="0" eaLnBrk="1" latinLnBrk="0" hangingPunct="1">
        <a:defRPr sz="7200" kern="1200">
          <a:solidFill>
            <a:schemeClr val="tx1"/>
          </a:solidFill>
          <a:latin typeface="+mn-lt"/>
          <a:ea typeface="+mn-ea"/>
          <a:cs typeface="+mn-cs"/>
        </a:defRPr>
      </a:lvl7pPr>
      <a:lvl8pPr marL="12801600" algn="l" defTabSz="3657600" rtl="0" eaLnBrk="1" latinLnBrk="0" hangingPunct="1">
        <a:defRPr sz="7200" kern="1200">
          <a:solidFill>
            <a:schemeClr val="tx1"/>
          </a:solidFill>
          <a:latin typeface="+mn-lt"/>
          <a:ea typeface="+mn-ea"/>
          <a:cs typeface="+mn-cs"/>
        </a:defRPr>
      </a:lvl8pPr>
      <a:lvl9pPr marL="14630400" algn="l" defTabSz="3657600" rtl="0" eaLnBrk="1" latinLnBrk="0" hangingPunct="1">
        <a:defRPr sz="7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hyperlink" Target="https://doi.org/10.1097/acm.0000000000005256" TargetMode="External"/><Relationship Id="rId7"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image" Target="../media/image3.gif"/><Relationship Id="rId11" Type="http://schemas.openxmlformats.org/officeDocument/2006/relationships/image" Target="../media/image7.png"/><Relationship Id="rId5" Type="http://schemas.openxmlformats.org/officeDocument/2006/relationships/image" Target="../media/image2.emf"/><Relationship Id="rId10" Type="http://schemas.openxmlformats.org/officeDocument/2006/relationships/image" Target="../media/image6.tif"/><Relationship Id="rId4" Type="http://schemas.openxmlformats.org/officeDocument/2006/relationships/hyperlink" Target="https://doi.org/10.3389/fphar.2023.1274065" TargetMode="External"/><Relationship Id="rId9" Type="http://schemas.openxmlformats.org/officeDocument/2006/relationships/image" Target="../media/image5.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19-UMMSM-Miller School of Medicine Next Gen U Logo OPT3-03.jpg">
            <a:extLst>
              <a:ext uri="{FF2B5EF4-FFF2-40B4-BE49-F238E27FC236}">
                <a16:creationId xmlns:a16="http://schemas.microsoft.com/office/drawing/2014/main" id="{C93749A6-0AB4-BB7D-DF25-0BDFEDF35325}"/>
              </a:ext>
            </a:extLst>
          </p:cNvPr>
          <p:cNvPicPr>
            <a:picLocks noChangeAspect="1"/>
          </p:cNvPicPr>
          <p:nvPr/>
        </p:nvPicPr>
        <p:blipFill rotWithShape="1">
          <a:blip r:embed="rId2">
            <a:extLst>
              <a:ext uri="{28A0092B-C50C-407E-A947-70E740481C1C}">
                <a14:useLocalDpi xmlns:a14="http://schemas.microsoft.com/office/drawing/2010/main" val="0"/>
              </a:ext>
            </a:extLst>
          </a:blip>
          <a:srcRect l="7326" t="30899" r="18873" b="17616"/>
          <a:stretch/>
        </p:blipFill>
        <p:spPr>
          <a:xfrm>
            <a:off x="30468649" y="656179"/>
            <a:ext cx="5181600" cy="1371600"/>
          </a:xfrm>
          <a:prstGeom prst="rect">
            <a:avLst/>
          </a:prstGeom>
        </p:spPr>
      </p:pic>
      <p:sp>
        <p:nvSpPr>
          <p:cNvPr id="6" name="Title 1">
            <a:extLst>
              <a:ext uri="{FF2B5EF4-FFF2-40B4-BE49-F238E27FC236}">
                <a16:creationId xmlns:a16="http://schemas.microsoft.com/office/drawing/2014/main" id="{17E8F0E6-B7F6-D0EB-9285-A24506A6CA58}"/>
              </a:ext>
            </a:extLst>
          </p:cNvPr>
          <p:cNvSpPr>
            <a:spLocks noGrp="1"/>
          </p:cNvSpPr>
          <p:nvPr>
            <p:ph type="ctrTitle"/>
          </p:nvPr>
        </p:nvSpPr>
        <p:spPr bwMode="auto">
          <a:xfrm>
            <a:off x="8424065" y="624476"/>
            <a:ext cx="19770809" cy="1828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Autofit/>
          </a:bodyPr>
          <a:lstStyle/>
          <a:p>
            <a:pPr eaLnBrk="1" hangingPunct="1">
              <a:lnSpc>
                <a:spcPct val="100000"/>
              </a:lnSpc>
            </a:pPr>
            <a:r>
              <a:rPr lang="en-US" altLang="en-US" sz="6600" b="1" dirty="0">
                <a:solidFill>
                  <a:srgbClr val="005030"/>
                </a:solidFill>
                <a:latin typeface="+mn-lt"/>
                <a:cs typeface="Arial" panose="020B0604020202020204" pitchFamily="34" charset="0"/>
              </a:rPr>
              <a:t>Title of Poster / Project</a:t>
            </a:r>
            <a:br>
              <a:rPr lang="en-US" altLang="en-US" sz="6600" b="1" dirty="0">
                <a:solidFill>
                  <a:srgbClr val="005030"/>
                </a:solidFill>
                <a:latin typeface="+mn-lt"/>
                <a:cs typeface="Arial" panose="020B0604020202020204" pitchFamily="34" charset="0"/>
              </a:rPr>
            </a:br>
            <a:r>
              <a:rPr lang="en-US" altLang="en-US" sz="6600" b="1" dirty="0">
                <a:solidFill>
                  <a:srgbClr val="005030"/>
                </a:solidFill>
                <a:latin typeface="+mn-lt"/>
                <a:cs typeface="Arial" panose="020B0604020202020204" pitchFamily="34" charset="0"/>
              </a:rPr>
              <a:t>(Aptos, 66 pt)</a:t>
            </a:r>
          </a:p>
        </p:txBody>
      </p:sp>
      <p:sp>
        <p:nvSpPr>
          <p:cNvPr id="7" name="Title 1">
            <a:extLst>
              <a:ext uri="{FF2B5EF4-FFF2-40B4-BE49-F238E27FC236}">
                <a16:creationId xmlns:a16="http://schemas.microsoft.com/office/drawing/2014/main" id="{8E23CD45-ADC9-7A9C-AF54-14EF137B92DA}"/>
              </a:ext>
            </a:extLst>
          </p:cNvPr>
          <p:cNvSpPr txBox="1">
            <a:spLocks/>
          </p:cNvSpPr>
          <p:nvPr/>
        </p:nvSpPr>
        <p:spPr bwMode="auto">
          <a:xfrm>
            <a:off x="6107350" y="2442883"/>
            <a:ext cx="24361300" cy="1828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defTabSz="3657600" rtl="0" eaLnBrk="1" latinLnBrk="0" hangingPunct="1">
              <a:lnSpc>
                <a:spcPct val="90000"/>
              </a:lnSpc>
              <a:spcBef>
                <a:spcPct val="0"/>
              </a:spcBef>
              <a:buNone/>
              <a:defRPr sz="24000" kern="1200">
                <a:solidFill>
                  <a:schemeClr val="tx1"/>
                </a:solidFill>
                <a:latin typeface="+mj-lt"/>
                <a:ea typeface="+mj-ea"/>
                <a:cs typeface="+mj-cs"/>
              </a:defRPr>
            </a:lvl1pPr>
          </a:lstStyle>
          <a:p>
            <a:pPr>
              <a:lnSpc>
                <a:spcPct val="100000"/>
              </a:lnSpc>
            </a:pPr>
            <a:r>
              <a:rPr lang="en-US" altLang="en-US" sz="5400" dirty="0">
                <a:latin typeface="+mn-lt"/>
                <a:cs typeface="Arial" panose="020B0604020202020204" pitchFamily="34" charset="0"/>
              </a:rPr>
              <a:t>Authors &amp; Affiliations; Pathway / Dual Degree (Aptos 54 pt)</a:t>
            </a:r>
          </a:p>
        </p:txBody>
      </p:sp>
      <p:sp>
        <p:nvSpPr>
          <p:cNvPr id="12" name="TextBox 11">
            <a:extLst>
              <a:ext uri="{FF2B5EF4-FFF2-40B4-BE49-F238E27FC236}">
                <a16:creationId xmlns:a16="http://schemas.microsoft.com/office/drawing/2014/main" id="{5F8AB999-ADA4-1303-668D-A3DCA3742DBB}"/>
              </a:ext>
            </a:extLst>
          </p:cNvPr>
          <p:cNvSpPr txBox="1"/>
          <p:nvPr/>
        </p:nvSpPr>
        <p:spPr>
          <a:xfrm>
            <a:off x="808980" y="4545161"/>
            <a:ext cx="10058400" cy="7817525"/>
          </a:xfrm>
          <a:prstGeom prst="rect">
            <a:avLst/>
          </a:prstGeom>
          <a:noFill/>
        </p:spPr>
        <p:txBody>
          <a:bodyPr wrap="square" lIns="182880" tIns="182880" rIns="182880" bIns="182880" rtlCol="0">
            <a:spAutoFit/>
          </a:bodyPr>
          <a:lstStyle/>
          <a:p>
            <a:pPr algn="just"/>
            <a:r>
              <a:rPr lang="en-US" sz="4000" b="1" dirty="0">
                <a:solidFill>
                  <a:srgbClr val="005030"/>
                </a:solidFill>
                <a:cs typeface="Arial" panose="020B0604020202020204" pitchFamily="34" charset="0"/>
              </a:rPr>
              <a:t>Abstract</a:t>
            </a:r>
          </a:p>
          <a:p>
            <a:pPr algn="just"/>
            <a:endParaRPr lang="en-US" sz="2800" dirty="0">
              <a:cs typeface="Arial" panose="020B0604020202020204" pitchFamily="34" charset="0"/>
            </a:endParaRPr>
          </a:p>
          <a:p>
            <a:pPr algn="just"/>
            <a:r>
              <a:rPr lang="en-US" sz="2800" dirty="0">
                <a:cs typeface="Arial" panose="020B0604020202020204" pitchFamily="34" charset="0"/>
              </a:rPr>
              <a:t>In preparing </a:t>
            </a:r>
            <a:r>
              <a:rPr lang="en-US" sz="3200" dirty="0">
                <a:cs typeface="Arial" panose="020B0604020202020204" pitchFamily="34" charset="0"/>
              </a:rPr>
              <a:t>for a career in medicine, it is essential to be able to understand and evaluate evidence generated from systematic scholarly inquiry into an area of medicine as well as to develop the skills needed to understand, evaluate, communicate, and facilitate / conduct research in important, relevant, and emerging areas. The Pathways of Emphasis within the Scholarly Concentration component of the </a:t>
            </a:r>
            <a:r>
              <a:rPr lang="en-US" sz="3200" dirty="0" err="1">
                <a:cs typeface="Arial" panose="020B0604020202020204" pitchFamily="34" charset="0"/>
              </a:rPr>
              <a:t>NextGenMD</a:t>
            </a:r>
            <a:r>
              <a:rPr lang="en-US" sz="3200" dirty="0">
                <a:cs typeface="Arial" panose="020B0604020202020204" pitchFamily="34" charset="0"/>
              </a:rPr>
              <a:t> curriculum provides students a structured framework to develop knowledge more deeply in an area of interest, conduct a scholarly project under the mentorship of a faculty mentor, and present the results of this inquiry to the campus community.</a:t>
            </a:r>
          </a:p>
        </p:txBody>
      </p:sp>
      <p:sp>
        <p:nvSpPr>
          <p:cNvPr id="13" name="TextBox 12">
            <a:extLst>
              <a:ext uri="{FF2B5EF4-FFF2-40B4-BE49-F238E27FC236}">
                <a16:creationId xmlns:a16="http://schemas.microsoft.com/office/drawing/2014/main" id="{D240ECC0-69BE-869A-7015-BB33E558E11C}"/>
              </a:ext>
            </a:extLst>
          </p:cNvPr>
          <p:cNvSpPr txBox="1"/>
          <p:nvPr/>
        </p:nvSpPr>
        <p:spPr>
          <a:xfrm>
            <a:off x="13269535" y="4545161"/>
            <a:ext cx="10058400" cy="7509748"/>
          </a:xfrm>
          <a:prstGeom prst="rect">
            <a:avLst/>
          </a:prstGeom>
          <a:noFill/>
        </p:spPr>
        <p:txBody>
          <a:bodyPr wrap="square" lIns="182880" tIns="182880" rIns="182880" bIns="182880" rtlCol="0">
            <a:spAutoFit/>
          </a:bodyPr>
          <a:lstStyle/>
          <a:p>
            <a:pPr algn="just"/>
            <a:r>
              <a:rPr lang="en-US" sz="4000" b="1" dirty="0">
                <a:solidFill>
                  <a:srgbClr val="005030"/>
                </a:solidFill>
                <a:cs typeface="Arial" panose="020B0604020202020204" pitchFamily="34" charset="0"/>
              </a:rPr>
              <a:t>Results 1</a:t>
            </a:r>
          </a:p>
          <a:p>
            <a:pPr algn="just"/>
            <a:endParaRPr lang="en-US" sz="2800" dirty="0">
              <a:cs typeface="Arial" panose="020B0604020202020204" pitchFamily="34" charset="0"/>
            </a:endParaRPr>
          </a:p>
          <a:p>
            <a:pPr algn="just"/>
            <a:r>
              <a:rPr lang="en-US" sz="2800" dirty="0">
                <a:cs typeface="Arial" panose="020B0604020202020204" pitchFamily="34" charset="0"/>
              </a:rPr>
              <a:t>The culmination of this course is the development of a final written Capstone project report and presentation on the scholarly (research) question that was examined in the mentored project. This includes a written Capstone report submitted to the Pathway Director and a poster presentation in the Spring Symposium scheduled for the final spring semester in Phase 3. Pathways may specify a more detailed format, but the general format will be a 10–15-page report organized as a one-page Abstract / Summary followed by a typical structure such as, for example, Introduction/Background, Methods, Results, and Discussion (depending on the discipline of study). Publication in a scientific journal is not required, but it is encouraged. </a:t>
            </a:r>
          </a:p>
          <a:p>
            <a:pPr algn="just"/>
            <a:endParaRPr lang="en-US" sz="3200" dirty="0">
              <a:cs typeface="Arial" panose="020B0604020202020204" pitchFamily="34" charset="0"/>
            </a:endParaRPr>
          </a:p>
        </p:txBody>
      </p:sp>
      <p:sp>
        <p:nvSpPr>
          <p:cNvPr id="14" name="TextBox 13">
            <a:extLst>
              <a:ext uri="{FF2B5EF4-FFF2-40B4-BE49-F238E27FC236}">
                <a16:creationId xmlns:a16="http://schemas.microsoft.com/office/drawing/2014/main" id="{7821DE36-C14D-CB20-E5A5-5012E77D0D70}"/>
              </a:ext>
            </a:extLst>
          </p:cNvPr>
          <p:cNvSpPr txBox="1"/>
          <p:nvPr/>
        </p:nvSpPr>
        <p:spPr>
          <a:xfrm>
            <a:off x="25459956" y="4545161"/>
            <a:ext cx="10058400" cy="7386638"/>
          </a:xfrm>
          <a:prstGeom prst="rect">
            <a:avLst/>
          </a:prstGeom>
          <a:noFill/>
        </p:spPr>
        <p:txBody>
          <a:bodyPr wrap="square" lIns="182880" tIns="182880" rIns="182880" bIns="182880" rtlCol="0">
            <a:spAutoFit/>
          </a:bodyPr>
          <a:lstStyle/>
          <a:p>
            <a:pPr algn="just"/>
            <a:r>
              <a:rPr lang="en-US" sz="4000" b="1" dirty="0">
                <a:solidFill>
                  <a:srgbClr val="005030"/>
                </a:solidFill>
                <a:cs typeface="Arial" panose="020B0604020202020204" pitchFamily="34" charset="0"/>
              </a:rPr>
              <a:t>Discussion  or Conclusion</a:t>
            </a:r>
          </a:p>
          <a:p>
            <a:pPr algn="just"/>
            <a:endParaRPr lang="en-US" sz="2800" dirty="0">
              <a:cs typeface="Arial" panose="020B0604020202020204" pitchFamily="34" charset="0"/>
            </a:endParaRPr>
          </a:p>
          <a:p>
            <a:pPr algn="just"/>
            <a:r>
              <a:rPr lang="en-US" sz="2800" dirty="0">
                <a:cs typeface="Arial" panose="020B0604020202020204" pitchFamily="34" charset="0"/>
              </a:rPr>
              <a:t>Passing grade (P) will be awarded for students who: </a:t>
            </a:r>
          </a:p>
          <a:p>
            <a:pPr marL="457200" indent="-457200" algn="just">
              <a:spcAft>
                <a:spcPts val="600"/>
              </a:spcAft>
              <a:buFont typeface="Arial" panose="020B0604020202020204" pitchFamily="34" charset="0"/>
              <a:buChar char="•"/>
            </a:pPr>
            <a:r>
              <a:rPr lang="en-US" sz="2800" dirty="0">
                <a:cs typeface="Arial" panose="020B0604020202020204" pitchFamily="34" charset="0"/>
              </a:rPr>
              <a:t>earn at least 75% of the possible points for the attendance, preparation, participation, and professionalism component; </a:t>
            </a:r>
          </a:p>
          <a:p>
            <a:pPr marL="457200" indent="-457200" algn="just">
              <a:spcAft>
                <a:spcPts val="600"/>
              </a:spcAft>
              <a:buFont typeface="Arial" panose="020B0604020202020204" pitchFamily="34" charset="0"/>
              <a:buChar char="•"/>
            </a:pPr>
            <a:r>
              <a:rPr lang="en-US" sz="2800" dirty="0">
                <a:cs typeface="Arial" panose="020B0604020202020204" pitchFamily="34" charset="0"/>
              </a:rPr>
              <a:t>submit a documentation signed by the student and mentor that they completed a total of at least 150 hours of mentored work; </a:t>
            </a:r>
          </a:p>
          <a:p>
            <a:pPr marL="457200" indent="-457200" algn="just">
              <a:spcAft>
                <a:spcPts val="600"/>
              </a:spcAft>
              <a:buFont typeface="Arial" panose="020B0604020202020204" pitchFamily="34" charset="0"/>
              <a:buChar char="•"/>
            </a:pPr>
            <a:r>
              <a:rPr lang="en-US" sz="2800" dirty="0">
                <a:cs typeface="Arial" panose="020B0604020202020204" pitchFamily="34" charset="0"/>
              </a:rPr>
              <a:t>submit a final written report of their scholarly project rated at least “Adequate” on all components (deadline: January 19, 2026); and </a:t>
            </a:r>
          </a:p>
          <a:p>
            <a:pPr marL="457200" indent="-457200" algn="just">
              <a:spcAft>
                <a:spcPts val="600"/>
              </a:spcAft>
              <a:buFont typeface="Arial" panose="020B0604020202020204" pitchFamily="34" charset="0"/>
              <a:buChar char="•"/>
            </a:pPr>
            <a:r>
              <a:rPr lang="en-US" sz="2800" dirty="0">
                <a:cs typeface="Arial" panose="020B0604020202020204" pitchFamily="34" charset="0"/>
              </a:rPr>
              <a:t>submit an e-poster of their work (deadline: March 31, 2026) and present it at the Capstone Poster Symposium scheduled for April of their final year. </a:t>
            </a:r>
          </a:p>
          <a:p>
            <a:pPr algn="just"/>
            <a:endParaRPr lang="en-US" sz="3200" dirty="0">
              <a:cs typeface="Arial" panose="020B0604020202020204" pitchFamily="34" charset="0"/>
            </a:endParaRPr>
          </a:p>
        </p:txBody>
      </p:sp>
      <p:sp>
        <p:nvSpPr>
          <p:cNvPr id="15" name="TextBox 14">
            <a:extLst>
              <a:ext uri="{FF2B5EF4-FFF2-40B4-BE49-F238E27FC236}">
                <a16:creationId xmlns:a16="http://schemas.microsoft.com/office/drawing/2014/main" id="{51439C9A-AD77-645B-3588-EFCC43BE6C03}"/>
              </a:ext>
            </a:extLst>
          </p:cNvPr>
          <p:cNvSpPr txBox="1"/>
          <p:nvPr/>
        </p:nvSpPr>
        <p:spPr>
          <a:xfrm>
            <a:off x="808980" y="13480976"/>
            <a:ext cx="10058400" cy="7940635"/>
          </a:xfrm>
          <a:prstGeom prst="rect">
            <a:avLst/>
          </a:prstGeom>
          <a:noFill/>
        </p:spPr>
        <p:txBody>
          <a:bodyPr wrap="square" lIns="182880" tIns="182880" rIns="182880" bIns="182880" rtlCol="0">
            <a:spAutoFit/>
          </a:bodyPr>
          <a:lstStyle/>
          <a:p>
            <a:pPr algn="just"/>
            <a:r>
              <a:rPr lang="en-US" sz="4000" b="1" dirty="0">
                <a:solidFill>
                  <a:srgbClr val="005030"/>
                </a:solidFill>
                <a:cs typeface="Arial" panose="020B0604020202020204" pitchFamily="34" charset="0"/>
              </a:rPr>
              <a:t>Background</a:t>
            </a:r>
          </a:p>
          <a:p>
            <a:pPr algn="just"/>
            <a:endParaRPr lang="en-US" sz="2800" dirty="0">
              <a:cs typeface="Arial" panose="020B0604020202020204" pitchFamily="34" charset="0"/>
            </a:endParaRPr>
          </a:p>
          <a:p>
            <a:pPr algn="just"/>
            <a:r>
              <a:rPr lang="en-US" sz="2800" dirty="0">
                <a:cs typeface="Arial" panose="020B0604020202020204" pitchFamily="34" charset="0"/>
              </a:rPr>
              <a:t>Overall, the </a:t>
            </a:r>
            <a:r>
              <a:rPr lang="en-US" sz="2800" i="1" dirty="0">
                <a:cs typeface="Arial" panose="020B0604020202020204" pitchFamily="34" charset="0"/>
              </a:rPr>
              <a:t>Scholarly Concentration II - Final Capstone</a:t>
            </a:r>
            <a:r>
              <a:rPr lang="en-US" sz="2800" dirty="0">
                <a:cs typeface="Arial" panose="020B0604020202020204" pitchFamily="34" charset="0"/>
              </a:rPr>
              <a:t> course requires a minimum of 150 hours of mentored scholarship (in addition to the minimum of 50 hours needed for the previous MDR 536 course). Such hours will be documented on a log of activities and time spent (see attached sample log), which will be reviewed and approved by the mentor and pathway director for the student to receive course credit. Students will schedule time with their mentor during the course period (January – May of next year) to work on the project during the dedicated afternoon for Scholarly Concentration work in Phase 3 (Wednesday afternoon, unless there is a conflict) and complete at least a total 150 hours of mentored work. If more than 50 hours were completed during Phase 1, those could count towards the total of 50+150 hours with approval of the mentor. </a:t>
            </a:r>
          </a:p>
          <a:p>
            <a:pPr algn="just"/>
            <a:endParaRPr lang="en-US" sz="3200" dirty="0">
              <a:cs typeface="Arial" panose="020B0604020202020204" pitchFamily="34" charset="0"/>
            </a:endParaRPr>
          </a:p>
        </p:txBody>
      </p:sp>
      <p:sp>
        <p:nvSpPr>
          <p:cNvPr id="16" name="TextBox 15">
            <a:extLst>
              <a:ext uri="{FF2B5EF4-FFF2-40B4-BE49-F238E27FC236}">
                <a16:creationId xmlns:a16="http://schemas.microsoft.com/office/drawing/2014/main" id="{0F1AA740-94AB-E64A-38AC-9A9F0307204F}"/>
              </a:ext>
            </a:extLst>
          </p:cNvPr>
          <p:cNvSpPr txBox="1"/>
          <p:nvPr/>
        </p:nvSpPr>
        <p:spPr>
          <a:xfrm>
            <a:off x="25439449" y="17729355"/>
            <a:ext cx="10058400" cy="6924973"/>
          </a:xfrm>
          <a:prstGeom prst="rect">
            <a:avLst/>
          </a:prstGeom>
          <a:noFill/>
        </p:spPr>
        <p:txBody>
          <a:bodyPr wrap="square" lIns="182880" tIns="182880" rIns="182880" bIns="182880" rtlCol="0">
            <a:spAutoFit/>
          </a:bodyPr>
          <a:lstStyle/>
          <a:p>
            <a:pPr algn="just"/>
            <a:r>
              <a:rPr lang="en-US" sz="4000" b="1" dirty="0">
                <a:solidFill>
                  <a:srgbClr val="005030"/>
                </a:solidFill>
                <a:cs typeface="Arial" panose="020B0604020202020204" pitchFamily="34" charset="0"/>
              </a:rPr>
              <a:t>References</a:t>
            </a:r>
          </a:p>
          <a:p>
            <a:pPr algn="just"/>
            <a:endParaRPr lang="en-US" sz="2800" dirty="0">
              <a:cs typeface="Arial" panose="020B0604020202020204" pitchFamily="34" charset="0"/>
            </a:endParaRPr>
          </a:p>
          <a:p>
            <a:pPr algn="just"/>
            <a:r>
              <a:rPr lang="en-US" sz="2800" dirty="0">
                <a:cs typeface="Arial" panose="020B0604020202020204" pitchFamily="34" charset="0"/>
              </a:rPr>
              <a:t>Any style, but consistent; </a:t>
            </a:r>
          </a:p>
          <a:p>
            <a:pPr algn="just"/>
            <a:r>
              <a:rPr lang="en-US" sz="2800" dirty="0">
                <a:cs typeface="Arial" panose="020B0604020202020204" pitchFamily="34" charset="0"/>
              </a:rPr>
              <a:t>include link whenever possible</a:t>
            </a:r>
          </a:p>
          <a:p>
            <a:pPr algn="just"/>
            <a:endParaRPr lang="en-US" sz="2800" dirty="0">
              <a:cs typeface="Arial" panose="020B0604020202020204" pitchFamily="34" charset="0"/>
            </a:endParaRPr>
          </a:p>
          <a:p>
            <a:pPr marL="514350" indent="-514350" algn="just">
              <a:spcAft>
                <a:spcPts val="600"/>
              </a:spcAft>
              <a:buFont typeface="+mj-lt"/>
              <a:buAutoNum type="arabicPeriod"/>
            </a:pPr>
            <a:r>
              <a:rPr lang="en-US" sz="2400" dirty="0">
                <a:cs typeface="Arial" panose="020B0604020202020204" pitchFamily="34" charset="0"/>
              </a:rPr>
              <a:t>Wolfson, R. K.; Fairchild, P. C.; </a:t>
            </a:r>
            <a:r>
              <a:rPr lang="en-US" sz="2400" dirty="0" err="1">
                <a:cs typeface="Arial" panose="020B0604020202020204" pitchFamily="34" charset="0"/>
              </a:rPr>
              <a:t>Bahner</a:t>
            </a:r>
            <a:r>
              <a:rPr lang="en-US" sz="2400" dirty="0">
                <a:cs typeface="Arial" panose="020B0604020202020204" pitchFamily="34" charset="0"/>
              </a:rPr>
              <a:t>, I.; </a:t>
            </a:r>
            <a:r>
              <a:rPr lang="en-US" sz="2400" dirty="0" err="1">
                <a:cs typeface="Arial" panose="020B0604020202020204" pitchFamily="34" charset="0"/>
              </a:rPr>
              <a:t>Baxa</a:t>
            </a:r>
            <a:r>
              <a:rPr lang="en-US" sz="2400" dirty="0">
                <a:cs typeface="Arial" panose="020B0604020202020204" pitchFamily="34" charset="0"/>
              </a:rPr>
              <a:t>, D. M. et al. Residency program directors' views on research conducted during medical school: a national survey. </a:t>
            </a:r>
            <a:r>
              <a:rPr lang="en-US" sz="2400" i="1" dirty="0">
                <a:cs typeface="Arial" panose="020B0604020202020204" pitchFamily="34" charset="0"/>
              </a:rPr>
              <a:t>Acad. Med. </a:t>
            </a:r>
            <a:r>
              <a:rPr lang="en-US" sz="2400" b="1" i="1" dirty="0">
                <a:cs typeface="Arial" panose="020B0604020202020204" pitchFamily="34" charset="0"/>
              </a:rPr>
              <a:t>2023</a:t>
            </a:r>
            <a:r>
              <a:rPr lang="en-US" sz="2400" dirty="0">
                <a:cs typeface="Arial" panose="020B0604020202020204" pitchFamily="34" charset="0"/>
              </a:rPr>
              <a:t>, </a:t>
            </a:r>
            <a:r>
              <a:rPr lang="en-US" sz="2400" i="1" dirty="0">
                <a:cs typeface="Arial" panose="020B0604020202020204" pitchFamily="34" charset="0"/>
              </a:rPr>
              <a:t>98</a:t>
            </a:r>
            <a:r>
              <a:rPr lang="en-US" sz="2400" dirty="0">
                <a:cs typeface="Arial" panose="020B0604020202020204" pitchFamily="34" charset="0"/>
              </a:rPr>
              <a:t>, 1185; </a:t>
            </a:r>
            <a:r>
              <a:rPr lang="en-US" sz="2400" dirty="0">
                <a:cs typeface="Arial" panose="020B0604020202020204" pitchFamily="34" charset="0"/>
                <a:hlinkClick r:id="rId3"/>
              </a:rPr>
              <a:t>https://doi.org/10.1097/acm.0000000000005256</a:t>
            </a:r>
            <a:r>
              <a:rPr lang="en-US" sz="2400" dirty="0">
                <a:cs typeface="Arial" panose="020B0604020202020204" pitchFamily="34" charset="0"/>
              </a:rPr>
              <a:t>.</a:t>
            </a:r>
          </a:p>
          <a:p>
            <a:pPr marL="514350" indent="-514350" algn="just">
              <a:spcAft>
                <a:spcPts val="600"/>
              </a:spcAft>
              <a:buFont typeface="+mj-lt"/>
              <a:buAutoNum type="arabicPeriod"/>
            </a:pPr>
            <a:r>
              <a:rPr lang="en-US" sz="2400" dirty="0" err="1">
                <a:cs typeface="Arial" panose="020B0604020202020204" pitchFamily="34" charset="0"/>
              </a:rPr>
              <a:t>Katzung</a:t>
            </a:r>
            <a:r>
              <a:rPr lang="en-US" sz="2400" dirty="0">
                <a:cs typeface="Arial" panose="020B0604020202020204" pitchFamily="34" charset="0"/>
              </a:rPr>
              <a:t>, B. G.; </a:t>
            </a:r>
            <a:r>
              <a:rPr lang="en-US" sz="2400" dirty="0" err="1">
                <a:cs typeface="Arial" panose="020B0604020202020204" pitchFamily="34" charset="0"/>
              </a:rPr>
              <a:t>Kruidering</a:t>
            </a:r>
            <a:r>
              <a:rPr lang="en-US" sz="2400" dirty="0">
                <a:cs typeface="Arial" panose="020B0604020202020204" pitchFamily="34" charset="0"/>
              </a:rPr>
              <a:t>-Hall, M.; Trevor, A. J. </a:t>
            </a:r>
            <a:r>
              <a:rPr lang="en-US" sz="2400" i="1" dirty="0" err="1">
                <a:cs typeface="Arial" panose="020B0604020202020204" pitchFamily="34" charset="0"/>
              </a:rPr>
              <a:t>Katzung</a:t>
            </a:r>
            <a:r>
              <a:rPr lang="en-US" sz="2400" i="1" dirty="0">
                <a:cs typeface="Arial" panose="020B0604020202020204" pitchFamily="34" charset="0"/>
              </a:rPr>
              <a:t> &amp; Trevor’s Pharmacology Examination &amp; Board Review, 12</a:t>
            </a:r>
            <a:r>
              <a:rPr lang="en-US" sz="2400" i="1" baseline="30000" dirty="0">
                <a:cs typeface="Arial" panose="020B0604020202020204" pitchFamily="34" charset="0"/>
              </a:rPr>
              <a:t>th</a:t>
            </a:r>
            <a:r>
              <a:rPr lang="en-US" sz="2400" i="1" dirty="0">
                <a:cs typeface="Arial" panose="020B0604020202020204" pitchFamily="34" charset="0"/>
              </a:rPr>
              <a:t> ed., McGraw-Hill: New York, </a:t>
            </a:r>
            <a:r>
              <a:rPr lang="en-US" sz="2400" b="1" i="1" dirty="0">
                <a:cs typeface="Arial" panose="020B0604020202020204" pitchFamily="34" charset="0"/>
              </a:rPr>
              <a:t>2019</a:t>
            </a:r>
            <a:r>
              <a:rPr lang="en-US" sz="2400" dirty="0">
                <a:cs typeface="Arial" panose="020B0604020202020204" pitchFamily="34" charset="0"/>
              </a:rPr>
              <a:t>.</a:t>
            </a:r>
          </a:p>
          <a:p>
            <a:pPr marL="514350" indent="-514350" algn="just">
              <a:spcAft>
                <a:spcPts val="600"/>
              </a:spcAft>
              <a:buFont typeface="+mj-lt"/>
              <a:buAutoNum type="arabicPeriod"/>
            </a:pPr>
            <a:r>
              <a:rPr lang="en-US" sz="2400" dirty="0">
                <a:cs typeface="Arial" panose="020B0604020202020204" pitchFamily="34" charset="0"/>
              </a:rPr>
              <a:t>Buchwald, P. Quantitative receptor model for responses that are left-or right-shifted versus occupancy (are more or less concentration sensitive): the SABRE approach. </a:t>
            </a:r>
            <a:r>
              <a:rPr lang="en-US" sz="2400" i="1" dirty="0">
                <a:cs typeface="Arial" panose="020B0604020202020204" pitchFamily="34" charset="0"/>
              </a:rPr>
              <a:t>Front. </a:t>
            </a:r>
            <a:r>
              <a:rPr lang="en-US" sz="2400" i="1" dirty="0" err="1">
                <a:cs typeface="Arial" panose="020B0604020202020204" pitchFamily="34" charset="0"/>
              </a:rPr>
              <a:t>Pharmacol</a:t>
            </a:r>
            <a:r>
              <a:rPr lang="en-US" sz="2400" dirty="0">
                <a:cs typeface="Arial" panose="020B0604020202020204" pitchFamily="34" charset="0"/>
              </a:rPr>
              <a:t>. </a:t>
            </a:r>
            <a:r>
              <a:rPr lang="en-US" sz="2400" b="1" dirty="0">
                <a:cs typeface="Arial" panose="020B0604020202020204" pitchFamily="34" charset="0"/>
              </a:rPr>
              <a:t>2023</a:t>
            </a:r>
            <a:r>
              <a:rPr lang="en-US" sz="2400" dirty="0">
                <a:cs typeface="Arial" panose="020B0604020202020204" pitchFamily="34" charset="0"/>
              </a:rPr>
              <a:t>, </a:t>
            </a:r>
            <a:r>
              <a:rPr lang="en-US" sz="2400" i="1" dirty="0">
                <a:cs typeface="Arial" panose="020B0604020202020204" pitchFamily="34" charset="0"/>
              </a:rPr>
              <a:t>14</a:t>
            </a:r>
            <a:r>
              <a:rPr lang="en-US" sz="2400" dirty="0">
                <a:cs typeface="Arial" panose="020B0604020202020204" pitchFamily="34" charset="0"/>
              </a:rPr>
              <a:t>, 1274065; </a:t>
            </a:r>
            <a:r>
              <a:rPr lang="en-US" sz="2400" dirty="0">
                <a:cs typeface="Arial" panose="020B0604020202020204" pitchFamily="34" charset="0"/>
                <a:hlinkClick r:id="rId4"/>
              </a:rPr>
              <a:t>https://doi.org/10.3389/fphar.2023.1274065</a:t>
            </a:r>
            <a:r>
              <a:rPr lang="en-US" sz="2400" dirty="0">
                <a:cs typeface="Arial" panose="020B0604020202020204" pitchFamily="34" charset="0"/>
              </a:rPr>
              <a:t>.</a:t>
            </a:r>
            <a:endParaRPr lang="en-US" sz="2800" dirty="0">
              <a:cs typeface="Arial" panose="020B0604020202020204" pitchFamily="34" charset="0"/>
            </a:endParaRPr>
          </a:p>
        </p:txBody>
      </p:sp>
      <p:sp>
        <p:nvSpPr>
          <p:cNvPr id="17" name="TextBox 16">
            <a:extLst>
              <a:ext uri="{FF2B5EF4-FFF2-40B4-BE49-F238E27FC236}">
                <a16:creationId xmlns:a16="http://schemas.microsoft.com/office/drawing/2014/main" id="{A1912C58-A3EF-A228-1329-E3000A5BBE63}"/>
              </a:ext>
            </a:extLst>
          </p:cNvPr>
          <p:cNvSpPr txBox="1"/>
          <p:nvPr/>
        </p:nvSpPr>
        <p:spPr>
          <a:xfrm>
            <a:off x="25459956" y="25040844"/>
            <a:ext cx="10058400" cy="2339102"/>
          </a:xfrm>
          <a:prstGeom prst="rect">
            <a:avLst/>
          </a:prstGeom>
          <a:noFill/>
        </p:spPr>
        <p:txBody>
          <a:bodyPr wrap="square" lIns="182880" tIns="182880" rIns="182880" bIns="182880" rtlCol="0">
            <a:spAutoFit/>
          </a:bodyPr>
          <a:lstStyle/>
          <a:p>
            <a:pPr algn="just"/>
            <a:r>
              <a:rPr lang="en-US" sz="4000" b="1" dirty="0">
                <a:solidFill>
                  <a:srgbClr val="005030"/>
                </a:solidFill>
                <a:cs typeface="Arial" panose="020B0604020202020204" pitchFamily="34" charset="0"/>
              </a:rPr>
              <a:t>Acknowledgements</a:t>
            </a:r>
          </a:p>
          <a:p>
            <a:pPr algn="just"/>
            <a:r>
              <a:rPr lang="la-Latn" sz="2800" noProof="0" dirty="0">
                <a:cs typeface="Arial" panose="020B0604020202020204" pitchFamily="34" charset="0"/>
              </a:rPr>
              <a:t>Lorem ipsum dolor sit amet, consectetur adipiscing elit, sed do eiusmod tempor incididunt ut labore et dolore magna aliqua.</a:t>
            </a:r>
          </a:p>
          <a:p>
            <a:pPr algn="just"/>
            <a:endParaRPr lang="en-US" sz="3200" dirty="0">
              <a:cs typeface="Arial" panose="020B0604020202020204" pitchFamily="34" charset="0"/>
            </a:endParaRPr>
          </a:p>
        </p:txBody>
      </p:sp>
      <p:sp>
        <p:nvSpPr>
          <p:cNvPr id="18" name="TextBox 17">
            <a:extLst>
              <a:ext uri="{FF2B5EF4-FFF2-40B4-BE49-F238E27FC236}">
                <a16:creationId xmlns:a16="http://schemas.microsoft.com/office/drawing/2014/main" id="{7A15A666-1742-87DC-0AFB-E2BBFF586D1D}"/>
              </a:ext>
            </a:extLst>
          </p:cNvPr>
          <p:cNvSpPr txBox="1"/>
          <p:nvPr/>
        </p:nvSpPr>
        <p:spPr>
          <a:xfrm>
            <a:off x="13269535" y="14719587"/>
            <a:ext cx="10058400" cy="1969770"/>
          </a:xfrm>
          <a:prstGeom prst="rect">
            <a:avLst/>
          </a:prstGeom>
          <a:noFill/>
        </p:spPr>
        <p:txBody>
          <a:bodyPr wrap="square" lIns="182880" tIns="182880" rIns="182880" bIns="182880" rtlCol="0">
            <a:spAutoFit/>
          </a:bodyPr>
          <a:lstStyle/>
          <a:p>
            <a:r>
              <a:rPr lang="en-US" sz="4000" b="1" dirty="0">
                <a:solidFill>
                  <a:srgbClr val="005030"/>
                </a:solidFill>
                <a:cs typeface="Arial" panose="020B0604020202020204" pitchFamily="34" charset="0"/>
              </a:rPr>
              <a:t>Results 2</a:t>
            </a:r>
            <a:endParaRPr lang="en-US" sz="3200" b="1" dirty="0">
              <a:solidFill>
                <a:srgbClr val="005030"/>
              </a:solidFill>
              <a:cs typeface="Arial" panose="020B0604020202020204" pitchFamily="34" charset="0"/>
            </a:endParaRPr>
          </a:p>
          <a:p>
            <a:pPr algn="ctr"/>
            <a:endParaRPr lang="en-US" sz="3200" b="1" dirty="0">
              <a:cs typeface="Arial" panose="020B0604020202020204" pitchFamily="34" charset="0"/>
            </a:endParaRPr>
          </a:p>
          <a:p>
            <a:pPr algn="ctr"/>
            <a:r>
              <a:rPr lang="en-US" sz="3200" b="1" dirty="0" err="1">
                <a:cs typeface="Arial" panose="020B0604020202020204" pitchFamily="34" charset="0"/>
              </a:rPr>
              <a:t>MOPr</a:t>
            </a:r>
            <a:r>
              <a:rPr lang="en-US" sz="3200" b="1" dirty="0">
                <a:cs typeface="Arial" panose="020B0604020202020204" pitchFamily="34" charset="0"/>
              </a:rPr>
              <a:t> Responses for Weak Agonists </a:t>
            </a:r>
            <a:endParaRPr lang="en-US" sz="3200" dirty="0">
              <a:cs typeface="Arial" panose="020B0604020202020204" pitchFamily="34" charset="0"/>
            </a:endParaRPr>
          </a:p>
        </p:txBody>
      </p:sp>
      <p:pic>
        <p:nvPicPr>
          <p:cNvPr id="19" name="Picture 18">
            <a:extLst>
              <a:ext uri="{FF2B5EF4-FFF2-40B4-BE49-F238E27FC236}">
                <a16:creationId xmlns:a16="http://schemas.microsoft.com/office/drawing/2014/main" id="{4D3C76E7-08CA-333D-913A-E5DEBB548D22}"/>
              </a:ext>
            </a:extLst>
          </p:cNvPr>
          <p:cNvPicPr>
            <a:picLocks noChangeAspect="1"/>
          </p:cNvPicPr>
          <p:nvPr/>
        </p:nvPicPr>
        <p:blipFill>
          <a:blip r:embed="rId5"/>
          <a:stretch>
            <a:fillRect/>
          </a:stretch>
        </p:blipFill>
        <p:spPr>
          <a:xfrm>
            <a:off x="13417429" y="16689357"/>
            <a:ext cx="9784080" cy="7438728"/>
          </a:xfrm>
          <a:prstGeom prst="rect">
            <a:avLst/>
          </a:prstGeom>
        </p:spPr>
      </p:pic>
      <p:sp>
        <p:nvSpPr>
          <p:cNvPr id="20" name="TextBox 19">
            <a:extLst>
              <a:ext uri="{FF2B5EF4-FFF2-40B4-BE49-F238E27FC236}">
                <a16:creationId xmlns:a16="http://schemas.microsoft.com/office/drawing/2014/main" id="{CD457BE7-8135-4E00-3F7B-27BC1451EB2F}"/>
              </a:ext>
            </a:extLst>
          </p:cNvPr>
          <p:cNvSpPr txBox="1"/>
          <p:nvPr/>
        </p:nvSpPr>
        <p:spPr>
          <a:xfrm>
            <a:off x="13269535" y="24363736"/>
            <a:ext cx="10058400" cy="2585323"/>
          </a:xfrm>
          <a:prstGeom prst="rect">
            <a:avLst/>
          </a:prstGeom>
          <a:noFill/>
        </p:spPr>
        <p:txBody>
          <a:bodyPr wrap="square" lIns="182880" tIns="182880" rIns="182880" bIns="182880" rtlCol="0">
            <a:spAutoFit/>
          </a:bodyPr>
          <a:lstStyle/>
          <a:p>
            <a:pPr algn="just">
              <a:spcBef>
                <a:spcPts val="600"/>
              </a:spcBef>
              <a:spcAft>
                <a:spcPts val="1200"/>
              </a:spcAft>
            </a:pPr>
            <a:r>
              <a:rPr lang="en-US" sz="2400" b="1" dirty="0">
                <a:effectLst/>
                <a:ea typeface="Times New Roman" panose="02020603050405020304" pitchFamily="18" charset="0"/>
                <a:cs typeface="Arial" panose="020B0604020202020204" pitchFamily="34" charset="0"/>
              </a:rPr>
              <a:t>Figure 1</a:t>
            </a:r>
            <a:r>
              <a:rPr lang="en-US" sz="2400" dirty="0">
                <a:effectLst/>
                <a:ea typeface="Times New Roman" panose="02020603050405020304" pitchFamily="18" charset="0"/>
                <a:cs typeface="Arial" panose="020B0604020202020204" pitchFamily="34" charset="0"/>
              </a:rPr>
              <a:t>. Fit of different agonist-induced </a:t>
            </a:r>
            <a:r>
              <a:rPr lang="en-US" sz="2400" dirty="0" err="1">
                <a:effectLst/>
                <a:ea typeface="Times New Roman" panose="02020603050405020304" pitchFamily="18" charset="0"/>
                <a:cs typeface="Arial" panose="020B0604020202020204" pitchFamily="34" charset="0"/>
              </a:rPr>
              <a:t>MOPr</a:t>
            </a:r>
            <a:r>
              <a:rPr lang="en-US" sz="2400" dirty="0">
                <a:effectLst/>
                <a:ea typeface="Times New Roman" panose="02020603050405020304" pitchFamily="18" charset="0"/>
                <a:cs typeface="Arial" panose="020B0604020202020204" pitchFamily="34" charset="0"/>
              </a:rPr>
              <a:t> responses along two different pathways involving G-protein activation and </a:t>
            </a:r>
            <a:r>
              <a:rPr lang="en-US" sz="2400" dirty="0">
                <a:effectLst/>
                <a:ea typeface="Times New Roman" panose="02020603050405020304" pitchFamily="18" charset="0"/>
                <a:cs typeface="Arial" panose="020B0604020202020204" pitchFamily="34" charset="0"/>
                <a:sym typeface="Symbol" panose="05050102010706020507" pitchFamily="18" charset="2"/>
              </a:rPr>
              <a:t></a:t>
            </a:r>
            <a:r>
              <a:rPr lang="en-US" sz="2400" dirty="0">
                <a:effectLst/>
                <a:ea typeface="Times New Roman" panose="02020603050405020304" pitchFamily="18" charset="0"/>
                <a:cs typeface="Arial" panose="020B0604020202020204" pitchFamily="34" charset="0"/>
              </a:rPr>
              <a:t>-arrestin2 recruitment. Data are shown as symbols with G-protein activation in darker and </a:t>
            </a:r>
            <a:r>
              <a:rPr lang="en-US" sz="2400" dirty="0">
                <a:effectLst/>
                <a:ea typeface="Times New Roman" panose="02020603050405020304" pitchFamily="18" charset="0"/>
                <a:cs typeface="Arial" panose="020B0604020202020204" pitchFamily="34" charset="0"/>
                <a:sym typeface="Symbol" panose="05050102010706020507" pitchFamily="18" charset="2"/>
              </a:rPr>
              <a:t></a:t>
            </a:r>
            <a:r>
              <a:rPr lang="en-US" sz="2400" dirty="0">
                <a:effectLst/>
                <a:ea typeface="Times New Roman" panose="02020603050405020304" pitchFamily="18" charset="0"/>
                <a:cs typeface="Arial" panose="020B0604020202020204" pitchFamily="34" charset="0"/>
              </a:rPr>
              <a:t>-arrestin responses in lighter colors for DAMGO (blue), morphine (purple), buprenorphine (green), </a:t>
            </a:r>
            <a:r>
              <a:rPr lang="en-US" sz="2400" dirty="0" err="1">
                <a:effectLst/>
                <a:ea typeface="Times New Roman" panose="02020603050405020304" pitchFamily="18" charset="0"/>
                <a:cs typeface="Arial" panose="020B0604020202020204" pitchFamily="34" charset="0"/>
              </a:rPr>
              <a:t>oliceridine</a:t>
            </a:r>
            <a:r>
              <a:rPr lang="en-US" sz="2400" dirty="0">
                <a:effectLst/>
                <a:ea typeface="Times New Roman" panose="02020603050405020304" pitchFamily="18" charset="0"/>
                <a:cs typeface="Arial" panose="020B0604020202020204" pitchFamily="34" charset="0"/>
              </a:rPr>
              <a:t> (red), and its </a:t>
            </a:r>
            <a:r>
              <a:rPr lang="en-US" sz="2400" i="1" dirty="0">
                <a:effectLst/>
                <a:ea typeface="Times New Roman" panose="02020603050405020304" pitchFamily="18" charset="0"/>
                <a:cs typeface="Arial" panose="020B0604020202020204" pitchFamily="34" charset="0"/>
              </a:rPr>
              <a:t>S</a:t>
            </a:r>
            <a:r>
              <a:rPr lang="en-US" sz="2400" dirty="0">
                <a:effectLst/>
                <a:ea typeface="Times New Roman" panose="02020603050405020304" pitchFamily="18" charset="0"/>
                <a:cs typeface="Arial" panose="020B0604020202020204" pitchFamily="34" charset="0"/>
              </a:rPr>
              <a:t> isomer (</a:t>
            </a:r>
            <a:r>
              <a:rPr lang="en-US" sz="2400" i="1" dirty="0">
                <a:effectLst/>
                <a:ea typeface="Times New Roman" panose="02020603050405020304" pitchFamily="18" charset="0"/>
                <a:cs typeface="Arial" panose="020B0604020202020204" pitchFamily="34" charset="0"/>
              </a:rPr>
              <a:t>S</a:t>
            </a:r>
            <a:r>
              <a:rPr lang="en-US" sz="2400" dirty="0">
                <a:effectLst/>
                <a:ea typeface="Times New Roman" panose="02020603050405020304" pitchFamily="18" charset="0"/>
                <a:cs typeface="Arial" panose="020B0604020202020204" pitchFamily="34" charset="0"/>
              </a:rPr>
              <a:t>)-TRV130 (</a:t>
            </a:r>
            <a:r>
              <a:rPr lang="en-US" sz="2400" dirty="0">
                <a:ea typeface="Times New Roman" panose="02020603050405020304" pitchFamily="18" charset="0"/>
                <a:cs typeface="Arial" panose="020B0604020202020204" pitchFamily="34" charset="0"/>
              </a:rPr>
              <a:t>brown) – for details see reference [3]. </a:t>
            </a:r>
            <a:endParaRPr lang="en-US" sz="2400" dirty="0">
              <a:cs typeface="Arial" panose="020B0604020202020204" pitchFamily="34" charset="0"/>
            </a:endParaRPr>
          </a:p>
        </p:txBody>
      </p:sp>
      <p:graphicFrame>
        <p:nvGraphicFramePr>
          <p:cNvPr id="21" name="Table 20">
            <a:extLst>
              <a:ext uri="{FF2B5EF4-FFF2-40B4-BE49-F238E27FC236}">
                <a16:creationId xmlns:a16="http://schemas.microsoft.com/office/drawing/2014/main" id="{ECF0F1B9-355B-0B02-3C6B-EB315BC2A38A}"/>
              </a:ext>
            </a:extLst>
          </p:cNvPr>
          <p:cNvGraphicFramePr>
            <a:graphicFrameLocks noGrp="1"/>
          </p:cNvGraphicFramePr>
          <p:nvPr>
            <p:extLst>
              <p:ext uri="{D42A27DB-BD31-4B8C-83A1-F6EECF244321}">
                <p14:modId xmlns:p14="http://schemas.microsoft.com/office/powerpoint/2010/main" val="2609232832"/>
              </p:ext>
            </p:extLst>
          </p:nvPr>
        </p:nvGraphicFramePr>
        <p:xfrm>
          <a:off x="808980" y="22883426"/>
          <a:ext cx="10058401" cy="4068999"/>
        </p:xfrm>
        <a:graphic>
          <a:graphicData uri="http://schemas.openxmlformats.org/drawingml/2006/table">
            <a:tbl>
              <a:tblPr firstRow="1" firstCol="1" bandRow="1">
                <a:tableStyleId>{1FECB4D8-DB02-4DC6-A0A2-4F2EBAE1DC90}</a:tableStyleId>
              </a:tblPr>
              <a:tblGrid>
                <a:gridCol w="3375027">
                  <a:extLst>
                    <a:ext uri="{9D8B030D-6E8A-4147-A177-3AD203B41FA5}">
                      <a16:colId xmlns:a16="http://schemas.microsoft.com/office/drawing/2014/main" val="1834302793"/>
                    </a:ext>
                  </a:extLst>
                </a:gridCol>
                <a:gridCol w="1636745">
                  <a:extLst>
                    <a:ext uri="{9D8B030D-6E8A-4147-A177-3AD203B41FA5}">
                      <a16:colId xmlns:a16="http://schemas.microsoft.com/office/drawing/2014/main" val="140882572"/>
                    </a:ext>
                  </a:extLst>
                </a:gridCol>
                <a:gridCol w="1636745">
                  <a:extLst>
                    <a:ext uri="{9D8B030D-6E8A-4147-A177-3AD203B41FA5}">
                      <a16:colId xmlns:a16="http://schemas.microsoft.com/office/drawing/2014/main" val="91397238"/>
                    </a:ext>
                  </a:extLst>
                </a:gridCol>
                <a:gridCol w="1636745">
                  <a:extLst>
                    <a:ext uri="{9D8B030D-6E8A-4147-A177-3AD203B41FA5}">
                      <a16:colId xmlns:a16="http://schemas.microsoft.com/office/drawing/2014/main" val="2022938744"/>
                    </a:ext>
                  </a:extLst>
                </a:gridCol>
                <a:gridCol w="1773139">
                  <a:extLst>
                    <a:ext uri="{9D8B030D-6E8A-4147-A177-3AD203B41FA5}">
                      <a16:colId xmlns:a16="http://schemas.microsoft.com/office/drawing/2014/main" val="3565781092"/>
                    </a:ext>
                  </a:extLst>
                </a:gridCol>
              </a:tblGrid>
              <a:tr h="668168">
                <a:tc>
                  <a:txBody>
                    <a:bodyPr/>
                    <a:lstStyle/>
                    <a:p>
                      <a:pPr marL="0" marR="0">
                        <a:lnSpc>
                          <a:spcPct val="150000"/>
                        </a:lnSpc>
                        <a:spcBef>
                          <a:spcPts val="0"/>
                        </a:spcBef>
                        <a:spcAft>
                          <a:spcPts val="0"/>
                        </a:spcAft>
                      </a:pPr>
                      <a:r>
                        <a:rPr lang="en-US" sz="2400" dirty="0">
                          <a:solidFill>
                            <a:srgbClr val="F47321"/>
                          </a:solidFill>
                          <a:effectLst/>
                          <a:latin typeface="+mn-lt"/>
                        </a:rPr>
                        <a:t>Islet preparation</a:t>
                      </a:r>
                      <a:endParaRPr lang="en-US" sz="2400" dirty="0">
                        <a:solidFill>
                          <a:srgbClr val="F47321"/>
                        </a:solidFill>
                        <a:effectLst/>
                        <a:latin typeface="+mn-lt"/>
                        <a:ea typeface="Calibri" panose="020F0502020204030204" pitchFamily="34" charset="0"/>
                        <a:cs typeface="Arial" panose="020B0604020202020204" pitchFamily="34" charset="0"/>
                      </a:endParaRPr>
                    </a:p>
                  </a:txBody>
                  <a:tcPr marL="68580" marR="68580" marT="0" marB="0" anchor="ctr"/>
                </a:tc>
                <a:tc>
                  <a:txBody>
                    <a:bodyPr/>
                    <a:lstStyle/>
                    <a:p>
                      <a:pPr marL="0" marR="0" algn="ctr">
                        <a:lnSpc>
                          <a:spcPct val="150000"/>
                        </a:lnSpc>
                        <a:spcBef>
                          <a:spcPts val="0"/>
                        </a:spcBef>
                        <a:spcAft>
                          <a:spcPts val="0"/>
                        </a:spcAft>
                      </a:pPr>
                      <a:r>
                        <a:rPr lang="en-US" sz="2400" dirty="0">
                          <a:solidFill>
                            <a:srgbClr val="F47321"/>
                          </a:solidFill>
                          <a:effectLst/>
                          <a:latin typeface="+mn-lt"/>
                        </a:rPr>
                        <a:t>1</a:t>
                      </a:r>
                      <a:endParaRPr lang="en-US" sz="2400" dirty="0">
                        <a:solidFill>
                          <a:srgbClr val="F47321"/>
                        </a:solidFill>
                        <a:effectLst/>
                        <a:latin typeface="+mn-lt"/>
                        <a:ea typeface="Calibri" panose="020F0502020204030204" pitchFamily="34" charset="0"/>
                        <a:cs typeface="Arial" panose="020B0604020202020204" pitchFamily="34" charset="0"/>
                      </a:endParaRPr>
                    </a:p>
                  </a:txBody>
                  <a:tcPr marL="68580" marR="68580" marT="0" marB="0" anchor="ctr"/>
                </a:tc>
                <a:tc>
                  <a:txBody>
                    <a:bodyPr/>
                    <a:lstStyle/>
                    <a:p>
                      <a:pPr marL="0" marR="0" algn="ctr">
                        <a:lnSpc>
                          <a:spcPct val="150000"/>
                        </a:lnSpc>
                        <a:spcBef>
                          <a:spcPts val="0"/>
                        </a:spcBef>
                        <a:spcAft>
                          <a:spcPts val="0"/>
                        </a:spcAft>
                      </a:pPr>
                      <a:r>
                        <a:rPr lang="en-US" sz="2400" dirty="0">
                          <a:solidFill>
                            <a:srgbClr val="F47321"/>
                          </a:solidFill>
                          <a:effectLst/>
                          <a:latin typeface="+mn-lt"/>
                        </a:rPr>
                        <a:t>2</a:t>
                      </a:r>
                      <a:endParaRPr lang="en-US" sz="2400" dirty="0">
                        <a:solidFill>
                          <a:srgbClr val="F47321"/>
                        </a:solidFill>
                        <a:effectLst/>
                        <a:latin typeface="+mn-lt"/>
                        <a:ea typeface="Calibri" panose="020F0502020204030204" pitchFamily="34" charset="0"/>
                        <a:cs typeface="Arial" panose="020B0604020202020204" pitchFamily="34" charset="0"/>
                      </a:endParaRPr>
                    </a:p>
                  </a:txBody>
                  <a:tcPr marL="68580" marR="68580" marT="0" marB="0" anchor="ctr"/>
                </a:tc>
                <a:tc>
                  <a:txBody>
                    <a:bodyPr/>
                    <a:lstStyle/>
                    <a:p>
                      <a:pPr marL="0" marR="0" algn="ctr">
                        <a:lnSpc>
                          <a:spcPct val="150000"/>
                        </a:lnSpc>
                        <a:spcBef>
                          <a:spcPts val="0"/>
                        </a:spcBef>
                        <a:spcAft>
                          <a:spcPts val="0"/>
                        </a:spcAft>
                      </a:pPr>
                      <a:r>
                        <a:rPr lang="en-US" sz="2400" dirty="0">
                          <a:solidFill>
                            <a:srgbClr val="F47321"/>
                          </a:solidFill>
                          <a:effectLst/>
                          <a:latin typeface="+mn-lt"/>
                        </a:rPr>
                        <a:t>3</a:t>
                      </a:r>
                      <a:endParaRPr lang="en-US" sz="2400" dirty="0">
                        <a:solidFill>
                          <a:srgbClr val="F47321"/>
                        </a:solidFill>
                        <a:effectLst/>
                        <a:latin typeface="+mn-lt"/>
                        <a:ea typeface="Calibri" panose="020F0502020204030204" pitchFamily="34" charset="0"/>
                        <a:cs typeface="Arial" panose="020B0604020202020204" pitchFamily="34" charset="0"/>
                      </a:endParaRPr>
                    </a:p>
                  </a:txBody>
                  <a:tcPr marL="68580" marR="68580" marT="0" marB="0" anchor="ctr"/>
                </a:tc>
                <a:tc>
                  <a:txBody>
                    <a:bodyPr/>
                    <a:lstStyle/>
                    <a:p>
                      <a:pPr marL="0" marR="0" algn="ctr">
                        <a:lnSpc>
                          <a:spcPct val="150000"/>
                        </a:lnSpc>
                        <a:spcBef>
                          <a:spcPts val="0"/>
                        </a:spcBef>
                        <a:spcAft>
                          <a:spcPts val="0"/>
                        </a:spcAft>
                      </a:pPr>
                      <a:r>
                        <a:rPr lang="en-US" sz="2400" dirty="0">
                          <a:solidFill>
                            <a:srgbClr val="F47321"/>
                          </a:solidFill>
                          <a:effectLst/>
                          <a:latin typeface="+mn-lt"/>
                        </a:rPr>
                        <a:t>4</a:t>
                      </a:r>
                      <a:endParaRPr lang="en-US" sz="2400" dirty="0">
                        <a:solidFill>
                          <a:srgbClr val="F47321"/>
                        </a:solidFill>
                        <a:effectLst/>
                        <a:latin typeface="+mn-lt"/>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74812877"/>
                  </a:ext>
                </a:extLst>
              </a:tr>
              <a:tr h="424740">
                <a:tc gridSpan="5">
                  <a:txBody>
                    <a:bodyPr/>
                    <a:lstStyle/>
                    <a:p>
                      <a:pPr marL="0" marR="0" algn="ctr">
                        <a:lnSpc>
                          <a:spcPct val="150000"/>
                        </a:lnSpc>
                        <a:spcBef>
                          <a:spcPts val="0"/>
                        </a:spcBef>
                        <a:spcAft>
                          <a:spcPts val="0"/>
                        </a:spcAft>
                      </a:pPr>
                      <a:r>
                        <a:rPr lang="en-US" sz="2400" i="1" dirty="0">
                          <a:effectLst/>
                          <a:latin typeface="+mn-lt"/>
                        </a:rPr>
                        <a:t>Mandatory Information</a:t>
                      </a:r>
                      <a:endParaRPr lang="en-US" sz="2400" i="1" dirty="0">
                        <a:effectLst/>
                        <a:latin typeface="+mn-lt"/>
                        <a:ea typeface="Calibri" panose="020F0502020204030204" pitchFamily="34" charset="0"/>
                        <a:cs typeface="Arial" panose="020B0604020202020204" pitchFamily="34" charset="0"/>
                      </a:endParaRPr>
                    </a:p>
                  </a:txBody>
                  <a:tcPr marL="68580" marR="68580" marT="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075363558"/>
                  </a:ext>
                </a:extLst>
              </a:tr>
              <a:tr h="900455">
                <a:tc>
                  <a:txBody>
                    <a:bodyPr/>
                    <a:lstStyle/>
                    <a:p>
                      <a:pPr marL="0" marR="0">
                        <a:lnSpc>
                          <a:spcPct val="100000"/>
                        </a:lnSpc>
                        <a:spcBef>
                          <a:spcPts val="0"/>
                        </a:spcBef>
                        <a:spcAft>
                          <a:spcPts val="0"/>
                        </a:spcAft>
                      </a:pPr>
                      <a:r>
                        <a:rPr lang="en-US" sz="2400" dirty="0">
                          <a:effectLst/>
                          <a:latin typeface="+mn-lt"/>
                        </a:rPr>
                        <a:t>Unique identifier</a:t>
                      </a:r>
                      <a:endParaRPr lang="en-US" sz="2400" dirty="0">
                        <a:effectLst/>
                        <a:latin typeface="+mn-lt"/>
                        <a:ea typeface="Calibri" panose="020F0502020204030204" pitchFamily="34" charset="0"/>
                        <a:cs typeface="Arial" panose="020B0604020202020204" pitchFamily="34" charset="0"/>
                      </a:endParaRPr>
                    </a:p>
                  </a:txBody>
                  <a:tcPr marL="68580" marR="68580" marT="0" marB="0" anchor="ctr"/>
                </a:tc>
                <a:tc>
                  <a:txBody>
                    <a:bodyPr/>
                    <a:lstStyle/>
                    <a:p>
                      <a:pPr marL="0" marR="0" algn="ctr">
                        <a:lnSpc>
                          <a:spcPct val="100000"/>
                        </a:lnSpc>
                        <a:spcBef>
                          <a:spcPts val="0"/>
                        </a:spcBef>
                        <a:spcAft>
                          <a:spcPts val="0"/>
                        </a:spcAft>
                      </a:pPr>
                      <a:r>
                        <a:rPr lang="en-US" sz="2400" spc="-80">
                          <a:effectLst/>
                          <a:latin typeface="+mn-lt"/>
                        </a:rPr>
                        <a:t>HP-2304</a:t>
                      </a:r>
                      <a:endParaRPr lang="en-US" sz="2400">
                        <a:effectLst/>
                        <a:latin typeface="+mn-lt"/>
                        <a:ea typeface="Calibri" panose="020F0502020204030204" pitchFamily="34" charset="0"/>
                        <a:cs typeface="Arial" panose="020B0604020202020204" pitchFamily="34" charset="0"/>
                      </a:endParaRPr>
                    </a:p>
                  </a:txBody>
                  <a:tcPr marL="68580" marR="68580" marT="0" marB="0" anchor="ctr"/>
                </a:tc>
                <a:tc>
                  <a:txBody>
                    <a:bodyPr/>
                    <a:lstStyle/>
                    <a:p>
                      <a:pPr marL="0" marR="0" algn="ctr">
                        <a:lnSpc>
                          <a:spcPct val="100000"/>
                        </a:lnSpc>
                        <a:spcBef>
                          <a:spcPts val="0"/>
                        </a:spcBef>
                        <a:spcAft>
                          <a:spcPts val="0"/>
                        </a:spcAft>
                      </a:pPr>
                      <a:r>
                        <a:rPr lang="en-US" sz="2400">
                          <a:effectLst/>
                          <a:latin typeface="+mn-lt"/>
                        </a:rPr>
                        <a:t>HP-2306</a:t>
                      </a:r>
                      <a:endParaRPr lang="en-US" sz="2400">
                        <a:effectLst/>
                        <a:latin typeface="+mn-lt"/>
                        <a:ea typeface="Calibri" panose="020F0502020204030204" pitchFamily="34" charset="0"/>
                        <a:cs typeface="Arial" panose="020B0604020202020204" pitchFamily="34" charset="0"/>
                      </a:endParaRPr>
                    </a:p>
                  </a:txBody>
                  <a:tcPr marL="68580" marR="68580" marT="0" marB="0" anchor="ctr"/>
                </a:tc>
                <a:tc>
                  <a:txBody>
                    <a:bodyPr/>
                    <a:lstStyle/>
                    <a:p>
                      <a:pPr marL="0" marR="0" algn="ctr">
                        <a:lnSpc>
                          <a:spcPct val="100000"/>
                        </a:lnSpc>
                        <a:spcBef>
                          <a:spcPts val="0"/>
                        </a:spcBef>
                        <a:spcAft>
                          <a:spcPts val="0"/>
                        </a:spcAft>
                      </a:pPr>
                      <a:r>
                        <a:rPr lang="en-US" sz="2400">
                          <a:effectLst/>
                          <a:latin typeface="+mn-lt"/>
                        </a:rPr>
                        <a:t>HP-2318</a:t>
                      </a:r>
                      <a:endParaRPr lang="en-US" sz="2400">
                        <a:effectLst/>
                        <a:latin typeface="+mn-lt"/>
                        <a:ea typeface="Calibri" panose="020F0502020204030204" pitchFamily="34" charset="0"/>
                        <a:cs typeface="Arial" panose="020B0604020202020204" pitchFamily="34" charset="0"/>
                      </a:endParaRPr>
                    </a:p>
                  </a:txBody>
                  <a:tcPr marL="68580" marR="68580" marT="0" marB="0" anchor="ctr"/>
                </a:tc>
                <a:tc>
                  <a:txBody>
                    <a:bodyPr/>
                    <a:lstStyle/>
                    <a:p>
                      <a:pPr marL="0" marR="0" algn="ctr">
                        <a:lnSpc>
                          <a:spcPct val="100000"/>
                        </a:lnSpc>
                        <a:spcBef>
                          <a:spcPts val="0"/>
                        </a:spcBef>
                        <a:spcAft>
                          <a:spcPts val="0"/>
                        </a:spcAft>
                      </a:pPr>
                      <a:r>
                        <a:rPr lang="en-US" sz="2400">
                          <a:effectLst/>
                          <a:latin typeface="+mn-lt"/>
                        </a:rPr>
                        <a:t>HP-2320</a:t>
                      </a:r>
                      <a:endParaRPr lang="en-US" sz="2400">
                        <a:effectLst/>
                        <a:latin typeface="+mn-lt"/>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72223684"/>
                  </a:ext>
                </a:extLst>
              </a:tr>
              <a:tr h="668168">
                <a:tc>
                  <a:txBody>
                    <a:bodyPr/>
                    <a:lstStyle/>
                    <a:p>
                      <a:pPr marL="0" marR="0">
                        <a:lnSpc>
                          <a:spcPct val="100000"/>
                        </a:lnSpc>
                        <a:spcBef>
                          <a:spcPts val="0"/>
                        </a:spcBef>
                        <a:spcAft>
                          <a:spcPts val="0"/>
                        </a:spcAft>
                      </a:pPr>
                      <a:r>
                        <a:rPr lang="en-US" sz="2400" dirty="0">
                          <a:effectLst/>
                          <a:latin typeface="+mn-lt"/>
                        </a:rPr>
                        <a:t>Donor age (years)</a:t>
                      </a:r>
                      <a:endParaRPr lang="en-US" sz="2400" dirty="0">
                        <a:effectLst/>
                        <a:latin typeface="+mn-lt"/>
                        <a:ea typeface="Calibri" panose="020F0502020204030204" pitchFamily="34" charset="0"/>
                        <a:cs typeface="Arial" panose="020B0604020202020204" pitchFamily="34" charset="0"/>
                      </a:endParaRPr>
                    </a:p>
                  </a:txBody>
                  <a:tcPr marL="68580" marR="68580" marT="0" marB="0" anchor="ctr"/>
                </a:tc>
                <a:tc>
                  <a:txBody>
                    <a:bodyPr/>
                    <a:lstStyle/>
                    <a:p>
                      <a:pPr marL="0" marR="0" algn="ctr">
                        <a:lnSpc>
                          <a:spcPct val="100000"/>
                        </a:lnSpc>
                        <a:spcBef>
                          <a:spcPts val="0"/>
                        </a:spcBef>
                        <a:spcAft>
                          <a:spcPts val="0"/>
                        </a:spcAft>
                      </a:pPr>
                      <a:r>
                        <a:rPr lang="en-US" sz="2400" dirty="0">
                          <a:effectLst/>
                          <a:latin typeface="+mn-lt"/>
                        </a:rPr>
                        <a:t>51</a:t>
                      </a:r>
                      <a:endParaRPr lang="en-US" sz="2400" dirty="0">
                        <a:effectLst/>
                        <a:latin typeface="+mn-lt"/>
                        <a:ea typeface="Calibri" panose="020F0502020204030204" pitchFamily="34" charset="0"/>
                        <a:cs typeface="Arial" panose="020B0604020202020204" pitchFamily="34" charset="0"/>
                      </a:endParaRPr>
                    </a:p>
                  </a:txBody>
                  <a:tcPr marL="68580" marR="68580" marT="0" marB="0" anchor="ctr"/>
                </a:tc>
                <a:tc>
                  <a:txBody>
                    <a:bodyPr/>
                    <a:lstStyle/>
                    <a:p>
                      <a:pPr marL="0" marR="0" algn="ctr">
                        <a:lnSpc>
                          <a:spcPct val="100000"/>
                        </a:lnSpc>
                        <a:spcBef>
                          <a:spcPts val="0"/>
                        </a:spcBef>
                        <a:spcAft>
                          <a:spcPts val="0"/>
                        </a:spcAft>
                      </a:pPr>
                      <a:r>
                        <a:rPr lang="en-US" sz="2400" dirty="0">
                          <a:effectLst/>
                          <a:latin typeface="+mn-lt"/>
                        </a:rPr>
                        <a:t>50</a:t>
                      </a:r>
                      <a:endParaRPr lang="en-US" sz="2400" dirty="0">
                        <a:effectLst/>
                        <a:latin typeface="+mn-lt"/>
                        <a:ea typeface="Calibri" panose="020F0502020204030204" pitchFamily="34" charset="0"/>
                        <a:cs typeface="Arial" panose="020B0604020202020204" pitchFamily="34" charset="0"/>
                      </a:endParaRPr>
                    </a:p>
                  </a:txBody>
                  <a:tcPr marL="68580" marR="68580" marT="0" marB="0" anchor="ctr"/>
                </a:tc>
                <a:tc>
                  <a:txBody>
                    <a:bodyPr/>
                    <a:lstStyle/>
                    <a:p>
                      <a:pPr marL="0" marR="0" algn="ctr">
                        <a:lnSpc>
                          <a:spcPct val="100000"/>
                        </a:lnSpc>
                        <a:spcBef>
                          <a:spcPts val="0"/>
                        </a:spcBef>
                        <a:spcAft>
                          <a:spcPts val="0"/>
                        </a:spcAft>
                      </a:pPr>
                      <a:r>
                        <a:rPr lang="en-US" sz="2400" dirty="0">
                          <a:effectLst/>
                          <a:latin typeface="+mn-lt"/>
                        </a:rPr>
                        <a:t>40</a:t>
                      </a:r>
                      <a:endParaRPr lang="en-US" sz="2400" dirty="0">
                        <a:effectLst/>
                        <a:latin typeface="+mn-lt"/>
                        <a:ea typeface="Calibri" panose="020F0502020204030204" pitchFamily="34" charset="0"/>
                        <a:cs typeface="Arial" panose="020B0604020202020204" pitchFamily="34" charset="0"/>
                      </a:endParaRPr>
                    </a:p>
                  </a:txBody>
                  <a:tcPr marL="68580" marR="68580" marT="0" marB="0" anchor="ctr"/>
                </a:tc>
                <a:tc>
                  <a:txBody>
                    <a:bodyPr/>
                    <a:lstStyle/>
                    <a:p>
                      <a:pPr marL="0" marR="0" algn="ctr">
                        <a:lnSpc>
                          <a:spcPct val="100000"/>
                        </a:lnSpc>
                        <a:spcBef>
                          <a:spcPts val="0"/>
                        </a:spcBef>
                        <a:spcAft>
                          <a:spcPts val="0"/>
                        </a:spcAft>
                      </a:pPr>
                      <a:r>
                        <a:rPr lang="en-US" sz="2400" dirty="0">
                          <a:effectLst/>
                          <a:latin typeface="+mn-lt"/>
                        </a:rPr>
                        <a:t>57</a:t>
                      </a:r>
                      <a:endParaRPr lang="en-US" sz="2400" dirty="0">
                        <a:effectLst/>
                        <a:latin typeface="+mn-lt"/>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827724530"/>
                  </a:ext>
                </a:extLst>
              </a:tr>
              <a:tr h="668168">
                <a:tc>
                  <a:txBody>
                    <a:bodyPr/>
                    <a:lstStyle/>
                    <a:p>
                      <a:pPr marL="0" marR="0">
                        <a:lnSpc>
                          <a:spcPct val="100000"/>
                        </a:lnSpc>
                        <a:spcBef>
                          <a:spcPts val="0"/>
                        </a:spcBef>
                        <a:spcAft>
                          <a:spcPts val="0"/>
                        </a:spcAft>
                      </a:pPr>
                      <a:r>
                        <a:rPr lang="en-US" sz="2400">
                          <a:effectLst/>
                          <a:latin typeface="+mn-lt"/>
                        </a:rPr>
                        <a:t>Donor sex (M/F)</a:t>
                      </a:r>
                      <a:endParaRPr lang="en-US" sz="2400">
                        <a:effectLst/>
                        <a:latin typeface="+mn-lt"/>
                        <a:ea typeface="Calibri" panose="020F0502020204030204" pitchFamily="34" charset="0"/>
                        <a:cs typeface="Arial" panose="020B0604020202020204" pitchFamily="34" charset="0"/>
                      </a:endParaRPr>
                    </a:p>
                  </a:txBody>
                  <a:tcPr marL="68580" marR="68580" marT="0" marB="0" anchor="ctr"/>
                </a:tc>
                <a:tc>
                  <a:txBody>
                    <a:bodyPr/>
                    <a:lstStyle/>
                    <a:p>
                      <a:pPr marL="0" marR="0" algn="ctr">
                        <a:lnSpc>
                          <a:spcPct val="100000"/>
                        </a:lnSpc>
                        <a:spcBef>
                          <a:spcPts val="0"/>
                        </a:spcBef>
                        <a:spcAft>
                          <a:spcPts val="0"/>
                        </a:spcAft>
                      </a:pPr>
                      <a:r>
                        <a:rPr lang="en-US" sz="2400">
                          <a:effectLst/>
                          <a:latin typeface="+mn-lt"/>
                        </a:rPr>
                        <a:t>M</a:t>
                      </a:r>
                      <a:endParaRPr lang="en-US" sz="2400">
                        <a:effectLst/>
                        <a:latin typeface="+mn-lt"/>
                        <a:ea typeface="Calibri" panose="020F0502020204030204" pitchFamily="34" charset="0"/>
                        <a:cs typeface="Arial" panose="020B0604020202020204" pitchFamily="34" charset="0"/>
                      </a:endParaRPr>
                    </a:p>
                  </a:txBody>
                  <a:tcPr marL="68580" marR="68580" marT="0" marB="0" anchor="ctr"/>
                </a:tc>
                <a:tc>
                  <a:txBody>
                    <a:bodyPr/>
                    <a:lstStyle/>
                    <a:p>
                      <a:pPr marL="0" marR="0" algn="ctr">
                        <a:lnSpc>
                          <a:spcPct val="100000"/>
                        </a:lnSpc>
                        <a:spcBef>
                          <a:spcPts val="0"/>
                        </a:spcBef>
                        <a:spcAft>
                          <a:spcPts val="0"/>
                        </a:spcAft>
                      </a:pPr>
                      <a:r>
                        <a:rPr lang="en-US" sz="2400">
                          <a:effectLst/>
                          <a:latin typeface="+mn-lt"/>
                        </a:rPr>
                        <a:t>F</a:t>
                      </a:r>
                      <a:endParaRPr lang="en-US" sz="2400">
                        <a:effectLst/>
                        <a:latin typeface="+mn-lt"/>
                        <a:ea typeface="Calibri" panose="020F0502020204030204" pitchFamily="34" charset="0"/>
                        <a:cs typeface="Arial" panose="020B0604020202020204" pitchFamily="34" charset="0"/>
                      </a:endParaRPr>
                    </a:p>
                  </a:txBody>
                  <a:tcPr marL="68580" marR="68580" marT="0" marB="0" anchor="ctr"/>
                </a:tc>
                <a:tc>
                  <a:txBody>
                    <a:bodyPr/>
                    <a:lstStyle/>
                    <a:p>
                      <a:pPr marL="0" marR="0" algn="ctr">
                        <a:lnSpc>
                          <a:spcPct val="100000"/>
                        </a:lnSpc>
                        <a:spcBef>
                          <a:spcPts val="0"/>
                        </a:spcBef>
                        <a:spcAft>
                          <a:spcPts val="0"/>
                        </a:spcAft>
                      </a:pPr>
                      <a:r>
                        <a:rPr lang="en-US" sz="2400" dirty="0">
                          <a:effectLst/>
                          <a:latin typeface="+mn-lt"/>
                        </a:rPr>
                        <a:t>F</a:t>
                      </a:r>
                      <a:endParaRPr lang="en-US" sz="2400" dirty="0">
                        <a:effectLst/>
                        <a:latin typeface="+mn-lt"/>
                        <a:ea typeface="Calibri" panose="020F0502020204030204" pitchFamily="34" charset="0"/>
                        <a:cs typeface="Arial" panose="020B0604020202020204" pitchFamily="34" charset="0"/>
                      </a:endParaRPr>
                    </a:p>
                  </a:txBody>
                  <a:tcPr marL="68580" marR="68580" marT="0" marB="0" anchor="ctr"/>
                </a:tc>
                <a:tc>
                  <a:txBody>
                    <a:bodyPr/>
                    <a:lstStyle/>
                    <a:p>
                      <a:pPr marL="0" marR="0" algn="ctr">
                        <a:lnSpc>
                          <a:spcPct val="100000"/>
                        </a:lnSpc>
                        <a:spcBef>
                          <a:spcPts val="0"/>
                        </a:spcBef>
                        <a:spcAft>
                          <a:spcPts val="0"/>
                        </a:spcAft>
                      </a:pPr>
                      <a:r>
                        <a:rPr lang="en-US" sz="2400" dirty="0">
                          <a:effectLst/>
                          <a:latin typeface="+mn-lt"/>
                        </a:rPr>
                        <a:t>M</a:t>
                      </a:r>
                      <a:endParaRPr lang="en-US" sz="2400" dirty="0">
                        <a:effectLst/>
                        <a:latin typeface="+mn-lt"/>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654830100"/>
                  </a:ext>
                </a:extLst>
              </a:tr>
              <a:tr h="668168">
                <a:tc>
                  <a:txBody>
                    <a:bodyPr/>
                    <a:lstStyle/>
                    <a:p>
                      <a:pPr marL="0" marR="0">
                        <a:lnSpc>
                          <a:spcPct val="100000"/>
                        </a:lnSpc>
                        <a:spcBef>
                          <a:spcPts val="0"/>
                        </a:spcBef>
                        <a:spcAft>
                          <a:spcPts val="0"/>
                        </a:spcAft>
                      </a:pPr>
                      <a:r>
                        <a:rPr lang="en-US" sz="2400">
                          <a:effectLst/>
                          <a:latin typeface="+mn-lt"/>
                        </a:rPr>
                        <a:t>Donor BMI (kg/m</a:t>
                      </a:r>
                      <a:r>
                        <a:rPr lang="en-US" sz="2400" baseline="30000">
                          <a:effectLst/>
                          <a:latin typeface="+mn-lt"/>
                        </a:rPr>
                        <a:t>2</a:t>
                      </a:r>
                      <a:r>
                        <a:rPr lang="en-US" sz="2400">
                          <a:effectLst/>
                          <a:latin typeface="+mn-lt"/>
                        </a:rPr>
                        <a:t>)</a:t>
                      </a:r>
                      <a:endParaRPr lang="en-US" sz="2400">
                        <a:effectLst/>
                        <a:latin typeface="+mn-lt"/>
                        <a:ea typeface="Calibri" panose="020F0502020204030204" pitchFamily="34" charset="0"/>
                        <a:cs typeface="Arial" panose="020B0604020202020204" pitchFamily="34" charset="0"/>
                      </a:endParaRPr>
                    </a:p>
                  </a:txBody>
                  <a:tcPr marL="68580" marR="68580" marT="0" marB="0" anchor="ctr"/>
                </a:tc>
                <a:tc>
                  <a:txBody>
                    <a:bodyPr/>
                    <a:lstStyle/>
                    <a:p>
                      <a:pPr marL="0" marR="0" algn="ctr">
                        <a:lnSpc>
                          <a:spcPct val="100000"/>
                        </a:lnSpc>
                        <a:spcBef>
                          <a:spcPts val="0"/>
                        </a:spcBef>
                        <a:spcAft>
                          <a:spcPts val="0"/>
                        </a:spcAft>
                      </a:pPr>
                      <a:r>
                        <a:rPr lang="en-US" sz="2400">
                          <a:effectLst/>
                          <a:latin typeface="+mn-lt"/>
                        </a:rPr>
                        <a:t>28.5</a:t>
                      </a:r>
                      <a:endParaRPr lang="en-US" sz="2400">
                        <a:effectLst/>
                        <a:latin typeface="+mn-lt"/>
                        <a:ea typeface="Calibri" panose="020F0502020204030204" pitchFamily="34" charset="0"/>
                        <a:cs typeface="Arial" panose="020B0604020202020204" pitchFamily="34" charset="0"/>
                      </a:endParaRPr>
                    </a:p>
                  </a:txBody>
                  <a:tcPr marL="68580" marR="68580" marT="0" marB="0" anchor="ctr"/>
                </a:tc>
                <a:tc>
                  <a:txBody>
                    <a:bodyPr/>
                    <a:lstStyle/>
                    <a:p>
                      <a:pPr marL="0" marR="0" algn="ctr">
                        <a:lnSpc>
                          <a:spcPct val="100000"/>
                        </a:lnSpc>
                        <a:spcBef>
                          <a:spcPts val="0"/>
                        </a:spcBef>
                        <a:spcAft>
                          <a:spcPts val="0"/>
                        </a:spcAft>
                      </a:pPr>
                      <a:r>
                        <a:rPr lang="en-US" sz="2400" dirty="0">
                          <a:effectLst/>
                          <a:latin typeface="+mn-lt"/>
                        </a:rPr>
                        <a:t>24.6</a:t>
                      </a:r>
                      <a:endParaRPr lang="en-US" sz="2400" dirty="0">
                        <a:effectLst/>
                        <a:latin typeface="+mn-lt"/>
                        <a:ea typeface="Calibri" panose="020F0502020204030204" pitchFamily="34" charset="0"/>
                        <a:cs typeface="Arial" panose="020B0604020202020204" pitchFamily="34" charset="0"/>
                      </a:endParaRPr>
                    </a:p>
                  </a:txBody>
                  <a:tcPr marL="68580" marR="68580" marT="0" marB="0" anchor="ctr"/>
                </a:tc>
                <a:tc>
                  <a:txBody>
                    <a:bodyPr/>
                    <a:lstStyle/>
                    <a:p>
                      <a:pPr marL="0" marR="0" algn="ctr">
                        <a:lnSpc>
                          <a:spcPct val="100000"/>
                        </a:lnSpc>
                        <a:spcBef>
                          <a:spcPts val="0"/>
                        </a:spcBef>
                        <a:spcAft>
                          <a:spcPts val="0"/>
                        </a:spcAft>
                      </a:pPr>
                      <a:r>
                        <a:rPr lang="en-US" sz="2400">
                          <a:effectLst/>
                          <a:latin typeface="+mn-lt"/>
                        </a:rPr>
                        <a:t>30.5</a:t>
                      </a:r>
                      <a:endParaRPr lang="en-US" sz="2400">
                        <a:effectLst/>
                        <a:latin typeface="+mn-lt"/>
                        <a:ea typeface="Calibri" panose="020F0502020204030204" pitchFamily="34" charset="0"/>
                        <a:cs typeface="Arial" panose="020B0604020202020204" pitchFamily="34" charset="0"/>
                      </a:endParaRPr>
                    </a:p>
                  </a:txBody>
                  <a:tcPr marL="68580" marR="68580" marT="0" marB="0" anchor="ctr"/>
                </a:tc>
                <a:tc>
                  <a:txBody>
                    <a:bodyPr/>
                    <a:lstStyle/>
                    <a:p>
                      <a:pPr marL="0" marR="0" algn="ctr">
                        <a:lnSpc>
                          <a:spcPct val="100000"/>
                        </a:lnSpc>
                        <a:spcBef>
                          <a:spcPts val="0"/>
                        </a:spcBef>
                        <a:spcAft>
                          <a:spcPts val="0"/>
                        </a:spcAft>
                      </a:pPr>
                      <a:r>
                        <a:rPr lang="en-US" sz="2400" dirty="0">
                          <a:effectLst/>
                          <a:latin typeface="+mn-lt"/>
                        </a:rPr>
                        <a:t>21.5</a:t>
                      </a:r>
                      <a:endParaRPr lang="en-US" sz="2400" dirty="0">
                        <a:effectLst/>
                        <a:latin typeface="+mn-lt"/>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305953097"/>
                  </a:ext>
                </a:extLst>
              </a:tr>
            </a:tbl>
          </a:graphicData>
        </a:graphic>
      </p:graphicFrame>
      <p:sp>
        <p:nvSpPr>
          <p:cNvPr id="22" name="TextBox 21">
            <a:extLst>
              <a:ext uri="{FF2B5EF4-FFF2-40B4-BE49-F238E27FC236}">
                <a16:creationId xmlns:a16="http://schemas.microsoft.com/office/drawing/2014/main" id="{51D035FC-D109-1AED-0802-6DFB6220DA07}"/>
              </a:ext>
            </a:extLst>
          </p:cNvPr>
          <p:cNvSpPr txBox="1"/>
          <p:nvPr/>
        </p:nvSpPr>
        <p:spPr>
          <a:xfrm>
            <a:off x="808980" y="21577991"/>
            <a:ext cx="10058400" cy="1107996"/>
          </a:xfrm>
          <a:prstGeom prst="rect">
            <a:avLst/>
          </a:prstGeom>
          <a:noFill/>
        </p:spPr>
        <p:txBody>
          <a:bodyPr wrap="square" lIns="182880" tIns="182880" rIns="182880" bIns="182880" rtlCol="0">
            <a:spAutoFit/>
          </a:bodyPr>
          <a:lstStyle/>
          <a:p>
            <a:pPr algn="just">
              <a:spcBef>
                <a:spcPts val="600"/>
              </a:spcBef>
              <a:spcAft>
                <a:spcPts val="1200"/>
              </a:spcAft>
            </a:pPr>
            <a:r>
              <a:rPr lang="en-US" sz="2400" b="1" dirty="0">
                <a:effectLst/>
                <a:ea typeface="Times New Roman" panose="02020603050405020304" pitchFamily="18" charset="0"/>
                <a:cs typeface="Arial" panose="020B0604020202020204" pitchFamily="34" charset="0"/>
              </a:rPr>
              <a:t>Table 1</a:t>
            </a:r>
            <a:r>
              <a:rPr lang="en-US" sz="2400" dirty="0">
                <a:effectLst/>
                <a:ea typeface="Times New Roman" panose="02020603050405020304" pitchFamily="18" charset="0"/>
                <a:cs typeface="Arial" panose="020B0604020202020204" pitchFamily="34" charset="0"/>
              </a:rPr>
              <a:t>. Checklist for reporting human islet preparations used in research. Adapted from </a:t>
            </a:r>
            <a:r>
              <a:rPr lang="en-US" sz="2400" i="1" dirty="0" err="1">
                <a:effectLst/>
                <a:ea typeface="Times New Roman" panose="02020603050405020304" pitchFamily="18" charset="0"/>
                <a:cs typeface="Arial" panose="020B0604020202020204" pitchFamily="34" charset="0"/>
              </a:rPr>
              <a:t>Diabetologia</a:t>
            </a:r>
            <a:r>
              <a:rPr lang="en-US" sz="2400" dirty="0">
                <a:effectLst/>
                <a:ea typeface="Times New Roman" panose="02020603050405020304" pitchFamily="18" charset="0"/>
                <a:cs typeface="Arial" panose="020B0604020202020204" pitchFamily="34" charset="0"/>
              </a:rPr>
              <a:t> 2019, </a:t>
            </a:r>
            <a:r>
              <a:rPr lang="en-US" sz="2400" i="1" dirty="0">
                <a:effectLst/>
                <a:ea typeface="Times New Roman" panose="02020603050405020304" pitchFamily="18" charset="0"/>
                <a:cs typeface="Arial" panose="020B0604020202020204" pitchFamily="34" charset="0"/>
              </a:rPr>
              <a:t>62</a:t>
            </a:r>
            <a:r>
              <a:rPr lang="en-US" sz="2400" dirty="0">
                <a:effectLst/>
                <a:ea typeface="Times New Roman" panose="02020603050405020304" pitchFamily="18" charset="0"/>
                <a:cs typeface="Arial" panose="020B0604020202020204" pitchFamily="34" charset="0"/>
              </a:rPr>
              <a:t>, 212.</a:t>
            </a:r>
            <a:endParaRPr lang="en-US" sz="2400" dirty="0">
              <a:cs typeface="Arial" panose="020B0604020202020204" pitchFamily="34" charset="0"/>
            </a:endParaRPr>
          </a:p>
        </p:txBody>
      </p:sp>
      <p:grpSp>
        <p:nvGrpSpPr>
          <p:cNvPr id="23" name="Group 22">
            <a:extLst>
              <a:ext uri="{FF2B5EF4-FFF2-40B4-BE49-F238E27FC236}">
                <a16:creationId xmlns:a16="http://schemas.microsoft.com/office/drawing/2014/main" id="{AE1FCC2A-D05F-6039-F576-A54D7B1066D0}"/>
              </a:ext>
            </a:extLst>
          </p:cNvPr>
          <p:cNvGrpSpPr/>
          <p:nvPr/>
        </p:nvGrpSpPr>
        <p:grpSpPr>
          <a:xfrm>
            <a:off x="13635295" y="11639789"/>
            <a:ext cx="9326880" cy="2877183"/>
            <a:chOff x="-9444" y="770408"/>
            <a:chExt cx="9136509" cy="2877183"/>
          </a:xfrm>
        </p:grpSpPr>
        <p:pic>
          <p:nvPicPr>
            <p:cNvPr id="24" name="Picture 23">
              <a:extLst>
                <a:ext uri="{FF2B5EF4-FFF2-40B4-BE49-F238E27FC236}">
                  <a16:creationId xmlns:a16="http://schemas.microsoft.com/office/drawing/2014/main" id="{D5F11C66-1CA8-BE6F-844F-9C9631CD1C4C}"/>
                </a:ext>
              </a:extLst>
            </p:cNvPr>
            <p:cNvPicPr>
              <a:picLocks noChangeAspect="1"/>
            </p:cNvPicPr>
            <p:nvPr/>
          </p:nvPicPr>
          <p:blipFill>
            <a:blip r:embed="rId6" cstate="print">
              <a:duotone>
                <a:prstClr val="black"/>
                <a:schemeClr val="accent2">
                  <a:lumMod val="20000"/>
                  <a:lumOff val="80000"/>
                  <a:tint val="45000"/>
                  <a:satMod val="400000"/>
                </a:schemeClr>
              </a:duotone>
              <a:extLst>
                <a:ext uri="{28A0092B-C50C-407E-A947-70E740481C1C}">
                  <a14:useLocalDpi xmlns:a14="http://schemas.microsoft.com/office/drawing/2010/main" val="0"/>
                </a:ext>
              </a:extLst>
            </a:blip>
            <a:stretch>
              <a:fillRect/>
            </a:stretch>
          </p:blipFill>
          <p:spPr>
            <a:xfrm flipH="1">
              <a:off x="3851058" y="2792680"/>
              <a:ext cx="713423" cy="217170"/>
            </a:xfrm>
            <a:prstGeom prst="rect">
              <a:avLst/>
            </a:prstGeom>
          </p:spPr>
        </p:pic>
        <p:sp>
          <p:nvSpPr>
            <p:cNvPr id="25" name="Rounded Rectangle 4">
              <a:extLst>
                <a:ext uri="{FF2B5EF4-FFF2-40B4-BE49-F238E27FC236}">
                  <a16:creationId xmlns:a16="http://schemas.microsoft.com/office/drawing/2014/main" id="{F2954E85-84D8-DB1D-2B78-5192D689D206}"/>
                </a:ext>
              </a:extLst>
            </p:cNvPr>
            <p:cNvSpPr/>
            <p:nvPr/>
          </p:nvSpPr>
          <p:spPr>
            <a:xfrm>
              <a:off x="4783667" y="770408"/>
              <a:ext cx="2192865" cy="914400"/>
            </a:xfrm>
            <a:prstGeom prst="roundRect">
              <a:avLst/>
            </a:prstGeom>
            <a:solidFill>
              <a:srgbClr val="005030"/>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600" b="1" dirty="0">
                  <a:effectLst>
                    <a:outerShdw blurRad="38100" dist="38100" dir="2700000" algn="tl">
                      <a:srgbClr val="000000">
                        <a:alpha val="43137"/>
                      </a:srgbClr>
                    </a:outerShdw>
                  </a:effectLst>
                  <a:cs typeface="Calibri" panose="020F0502020204030204" pitchFamily="34" charset="0"/>
                </a:rPr>
                <a:t>Normal </a:t>
              </a:r>
              <a:r>
                <a:rPr lang="en-US" sz="1600" dirty="0">
                  <a:effectLst>
                    <a:outerShdw blurRad="38100" dist="38100" dir="2700000" algn="tl">
                      <a:srgbClr val="000000">
                        <a:alpha val="43137"/>
                      </a:srgbClr>
                    </a:outerShdw>
                  </a:effectLst>
                  <a:cs typeface="Calibri" panose="020F0502020204030204" pitchFamily="34" charset="0"/>
                </a:rPr>
                <a:t>(non-</a:t>
              </a:r>
              <a:r>
                <a:rPr lang="en-US" sz="1600" dirty="0" err="1">
                  <a:effectLst>
                    <a:outerShdw blurRad="38100" dist="38100" dir="2700000" algn="tl">
                      <a:srgbClr val="000000">
                        <a:alpha val="43137"/>
                      </a:srgbClr>
                    </a:outerShdw>
                  </a:effectLst>
                  <a:cs typeface="Calibri" panose="020F0502020204030204" pitchFamily="34" charset="0"/>
                </a:rPr>
                <a:t>progressor</a:t>
              </a:r>
              <a:r>
                <a:rPr lang="en-US" sz="1600" dirty="0">
                  <a:effectLst>
                    <a:outerShdw blurRad="38100" dist="38100" dir="2700000" algn="tl">
                      <a:srgbClr val="000000">
                        <a:alpha val="43137"/>
                      </a:srgbClr>
                    </a:outerShdw>
                  </a:effectLst>
                  <a:cs typeface="Calibri" panose="020F0502020204030204" pitchFamily="34" charset="0"/>
                </a:rPr>
                <a:t>)</a:t>
              </a:r>
            </a:p>
            <a:p>
              <a:pPr algn="ctr"/>
              <a:r>
                <a:rPr lang="en-US" sz="1200" dirty="0">
                  <a:effectLst>
                    <a:outerShdw blurRad="38100" dist="38100" dir="2700000" algn="tl">
                      <a:srgbClr val="000000">
                        <a:alpha val="43137"/>
                      </a:srgbClr>
                    </a:outerShdw>
                  </a:effectLst>
                  <a:cs typeface="Calibri" panose="020F0502020204030204" pitchFamily="34" charset="0"/>
                </a:rPr>
                <a:t>Blood glucose normal</a:t>
              </a:r>
            </a:p>
            <a:p>
              <a:pPr algn="ctr"/>
              <a:r>
                <a:rPr lang="en-US" sz="1200" dirty="0">
                  <a:effectLst>
                    <a:outerShdw blurRad="38100" dist="38100" dir="2700000" algn="tl">
                      <a:srgbClr val="000000">
                        <a:alpha val="43137"/>
                      </a:srgbClr>
                    </a:outerShdw>
                  </a:effectLst>
                  <a:cs typeface="Calibri" panose="020F0502020204030204" pitchFamily="34" charset="0"/>
                </a:rPr>
                <a:t>Analyzed: </a:t>
              </a:r>
              <a:r>
                <a:rPr lang="en-US" sz="1200" b="1" i="1" dirty="0">
                  <a:effectLst>
                    <a:outerShdw blurRad="38100" dist="38100" dir="2700000" algn="tl">
                      <a:srgbClr val="000000">
                        <a:alpha val="43137"/>
                      </a:srgbClr>
                    </a:outerShdw>
                  </a:effectLst>
                  <a:cs typeface="Calibri" panose="020F0502020204030204" pitchFamily="34" charset="0"/>
                </a:rPr>
                <a:t>n</a:t>
              </a:r>
              <a:r>
                <a:rPr lang="en-US" sz="1200" b="1" dirty="0">
                  <a:effectLst>
                    <a:outerShdw blurRad="38100" dist="38100" dir="2700000" algn="tl">
                      <a:srgbClr val="000000">
                        <a:alpha val="43137"/>
                      </a:srgbClr>
                    </a:outerShdw>
                  </a:effectLst>
                  <a:cs typeface="Calibri" panose="020F0502020204030204" pitchFamily="34" charset="0"/>
                </a:rPr>
                <a:t> = 6 </a:t>
              </a:r>
              <a:r>
                <a:rPr lang="en-US" sz="1200" dirty="0">
                  <a:effectLst>
                    <a:outerShdw blurRad="38100" dist="38100" dir="2700000" algn="tl">
                      <a:srgbClr val="000000">
                        <a:alpha val="43137"/>
                      </a:srgbClr>
                    </a:outerShdw>
                  </a:effectLst>
                  <a:cs typeface="Calibri" panose="020F0502020204030204" pitchFamily="34" charset="0"/>
                </a:rPr>
                <a:t>(3 F, 3 M)</a:t>
              </a:r>
            </a:p>
          </p:txBody>
        </p:sp>
        <p:sp>
          <p:nvSpPr>
            <p:cNvPr id="26" name="Rounded Rectangle 7">
              <a:extLst>
                <a:ext uri="{FF2B5EF4-FFF2-40B4-BE49-F238E27FC236}">
                  <a16:creationId xmlns:a16="http://schemas.microsoft.com/office/drawing/2014/main" id="{7DAC24AE-FF7C-B40E-4FC2-F259D3960B5E}"/>
                </a:ext>
              </a:extLst>
            </p:cNvPr>
            <p:cNvSpPr/>
            <p:nvPr/>
          </p:nvSpPr>
          <p:spPr>
            <a:xfrm>
              <a:off x="7332142" y="858516"/>
              <a:ext cx="1794923" cy="224895"/>
            </a:xfrm>
            <a:prstGeom prst="round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cs typeface="Calibri" panose="020F0502020204030204" pitchFamily="34" charset="0"/>
                </a:rPr>
                <a:t>Blood (EDTA, 150 </a:t>
              </a:r>
              <a:r>
                <a:rPr lang="el-GR" sz="1400" dirty="0">
                  <a:solidFill>
                    <a:schemeClr val="tx1"/>
                  </a:solidFill>
                  <a:cs typeface="Calibri" panose="020F0502020204030204" pitchFamily="34" charset="0"/>
                </a:rPr>
                <a:t>μ</a:t>
              </a:r>
              <a:r>
                <a:rPr lang="en-US" sz="1400" dirty="0">
                  <a:solidFill>
                    <a:schemeClr val="tx1"/>
                  </a:solidFill>
                  <a:cs typeface="Calibri" panose="020F0502020204030204" pitchFamily="34" charset="0"/>
                </a:rPr>
                <a:t>L)</a:t>
              </a:r>
            </a:p>
          </p:txBody>
        </p:sp>
        <p:sp>
          <p:nvSpPr>
            <p:cNvPr id="27" name="Rounded Rectangle 8">
              <a:extLst>
                <a:ext uri="{FF2B5EF4-FFF2-40B4-BE49-F238E27FC236}">
                  <a16:creationId xmlns:a16="http://schemas.microsoft.com/office/drawing/2014/main" id="{F09118B6-7D70-9168-F1AA-2DD29051684D}"/>
                </a:ext>
              </a:extLst>
            </p:cNvPr>
            <p:cNvSpPr/>
            <p:nvPr/>
          </p:nvSpPr>
          <p:spPr>
            <a:xfrm>
              <a:off x="7332142" y="1366515"/>
              <a:ext cx="1794923" cy="224895"/>
            </a:xfrm>
            <a:prstGeom prst="round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cs typeface="Calibri" panose="020F0502020204030204" pitchFamily="34" charset="0"/>
                </a:rPr>
                <a:t>Fecal pellet (200 mg)</a:t>
              </a:r>
            </a:p>
          </p:txBody>
        </p:sp>
        <p:cxnSp>
          <p:nvCxnSpPr>
            <p:cNvPr id="28" name="Straight Arrow Connector 27">
              <a:extLst>
                <a:ext uri="{FF2B5EF4-FFF2-40B4-BE49-F238E27FC236}">
                  <a16:creationId xmlns:a16="http://schemas.microsoft.com/office/drawing/2014/main" id="{534F7552-C09C-F310-3675-79A074E6BA1D}"/>
                </a:ext>
              </a:extLst>
            </p:cNvPr>
            <p:cNvCxnSpPr/>
            <p:nvPr/>
          </p:nvCxnSpPr>
          <p:spPr>
            <a:xfrm flipV="1">
              <a:off x="6942675" y="939214"/>
              <a:ext cx="389467" cy="28839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DC8743A4-F352-F776-B605-0A30283A39EB}"/>
                </a:ext>
              </a:extLst>
            </p:cNvPr>
            <p:cNvCxnSpPr/>
            <p:nvPr/>
          </p:nvCxnSpPr>
          <p:spPr>
            <a:xfrm>
              <a:off x="6942675" y="1227608"/>
              <a:ext cx="389467" cy="27040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0" name="Rounded Rectangle 38">
              <a:extLst>
                <a:ext uri="{FF2B5EF4-FFF2-40B4-BE49-F238E27FC236}">
                  <a16:creationId xmlns:a16="http://schemas.microsoft.com/office/drawing/2014/main" id="{47745933-9FC8-4BE4-647D-72BD2458A9DD}"/>
                </a:ext>
              </a:extLst>
            </p:cNvPr>
            <p:cNvSpPr/>
            <p:nvPr/>
          </p:nvSpPr>
          <p:spPr>
            <a:xfrm>
              <a:off x="4783667" y="2611041"/>
              <a:ext cx="2192865" cy="914400"/>
            </a:xfrm>
            <a:prstGeom prst="roundRect">
              <a:avLst/>
            </a:prstGeom>
            <a:solidFill>
              <a:srgbClr val="F47321"/>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600" b="1" dirty="0">
                  <a:effectLst>
                    <a:outerShdw blurRad="38100" dist="38100" dir="2700000" algn="tl">
                      <a:srgbClr val="000000">
                        <a:alpha val="43137"/>
                      </a:srgbClr>
                    </a:outerShdw>
                  </a:effectLst>
                  <a:cs typeface="Calibri" panose="020F0502020204030204" pitchFamily="34" charset="0"/>
                </a:rPr>
                <a:t>Diabetic </a:t>
              </a:r>
              <a:r>
                <a:rPr lang="en-US" sz="1600" dirty="0">
                  <a:effectLst>
                    <a:outerShdw blurRad="38100" dist="38100" dir="2700000" algn="tl">
                      <a:srgbClr val="000000">
                        <a:alpha val="43137"/>
                      </a:srgbClr>
                    </a:outerShdw>
                  </a:effectLst>
                  <a:cs typeface="Calibri" panose="020F0502020204030204" pitchFamily="34" charset="0"/>
                </a:rPr>
                <a:t>(</a:t>
              </a:r>
              <a:r>
                <a:rPr lang="en-US" sz="1600" dirty="0" err="1">
                  <a:effectLst>
                    <a:outerShdw blurRad="38100" dist="38100" dir="2700000" algn="tl">
                      <a:srgbClr val="000000">
                        <a:alpha val="43137"/>
                      </a:srgbClr>
                    </a:outerShdw>
                  </a:effectLst>
                  <a:cs typeface="Calibri" panose="020F0502020204030204" pitchFamily="34" charset="0"/>
                </a:rPr>
                <a:t>progressor</a:t>
              </a:r>
              <a:r>
                <a:rPr lang="en-US" sz="1600" dirty="0">
                  <a:effectLst>
                    <a:outerShdw blurRad="38100" dist="38100" dir="2700000" algn="tl">
                      <a:srgbClr val="000000">
                        <a:alpha val="43137"/>
                      </a:srgbClr>
                    </a:outerShdw>
                  </a:effectLst>
                  <a:cs typeface="Calibri" panose="020F0502020204030204" pitchFamily="34" charset="0"/>
                </a:rPr>
                <a:t>)</a:t>
              </a:r>
            </a:p>
            <a:p>
              <a:pPr algn="ctr"/>
              <a:r>
                <a:rPr lang="en-US" sz="1200" dirty="0">
                  <a:effectLst>
                    <a:outerShdw blurRad="38100" dist="38100" dir="2700000" algn="tl">
                      <a:srgbClr val="000000">
                        <a:alpha val="43137"/>
                      </a:srgbClr>
                    </a:outerShdw>
                  </a:effectLst>
                  <a:cs typeface="Calibri" panose="020F0502020204030204" pitchFamily="34" charset="0"/>
                </a:rPr>
                <a:t>Blood glucose &gt; 300 mg/</a:t>
              </a:r>
              <a:r>
                <a:rPr lang="en-US" sz="1200" dirty="0" err="1">
                  <a:effectLst>
                    <a:outerShdw blurRad="38100" dist="38100" dir="2700000" algn="tl">
                      <a:srgbClr val="000000">
                        <a:alpha val="43137"/>
                      </a:srgbClr>
                    </a:outerShdw>
                  </a:effectLst>
                  <a:cs typeface="Calibri" panose="020F0502020204030204" pitchFamily="34" charset="0"/>
                </a:rPr>
                <a:t>dL</a:t>
              </a:r>
              <a:r>
                <a:rPr lang="en-US" sz="1200" dirty="0">
                  <a:effectLst>
                    <a:outerShdw blurRad="38100" dist="38100" dir="2700000" algn="tl">
                      <a:srgbClr val="000000">
                        <a:alpha val="43137"/>
                      </a:srgbClr>
                    </a:outerShdw>
                  </a:effectLst>
                  <a:cs typeface="Calibri" panose="020F0502020204030204" pitchFamily="34" charset="0"/>
                </a:rPr>
                <a:t> (3×)</a:t>
              </a:r>
            </a:p>
            <a:p>
              <a:pPr algn="ctr"/>
              <a:r>
                <a:rPr lang="en-US" sz="1200" dirty="0">
                  <a:effectLst>
                    <a:outerShdw blurRad="38100" dist="38100" dir="2700000" algn="tl">
                      <a:srgbClr val="000000">
                        <a:alpha val="43137"/>
                      </a:srgbClr>
                    </a:outerShdw>
                  </a:effectLst>
                  <a:cs typeface="Calibri" panose="020F0502020204030204" pitchFamily="34" charset="0"/>
                </a:rPr>
                <a:t>Analyzed: </a:t>
              </a:r>
              <a:r>
                <a:rPr lang="en-US" sz="1200" b="1" i="1" dirty="0">
                  <a:effectLst>
                    <a:outerShdw blurRad="38100" dist="38100" dir="2700000" algn="tl">
                      <a:srgbClr val="000000">
                        <a:alpha val="43137"/>
                      </a:srgbClr>
                    </a:outerShdw>
                  </a:effectLst>
                  <a:cs typeface="Calibri" panose="020F0502020204030204" pitchFamily="34" charset="0"/>
                </a:rPr>
                <a:t>n</a:t>
              </a:r>
              <a:r>
                <a:rPr lang="en-US" sz="1200" b="1" dirty="0">
                  <a:effectLst>
                    <a:outerShdw blurRad="38100" dist="38100" dir="2700000" algn="tl">
                      <a:srgbClr val="000000">
                        <a:alpha val="43137"/>
                      </a:srgbClr>
                    </a:outerShdw>
                  </a:effectLst>
                  <a:cs typeface="Calibri" panose="020F0502020204030204" pitchFamily="34" charset="0"/>
                </a:rPr>
                <a:t> = 8 </a:t>
              </a:r>
              <a:r>
                <a:rPr lang="en-US" sz="1200" dirty="0">
                  <a:effectLst>
                    <a:outerShdw blurRad="38100" dist="38100" dir="2700000" algn="tl">
                      <a:srgbClr val="000000">
                        <a:alpha val="43137"/>
                      </a:srgbClr>
                    </a:outerShdw>
                  </a:effectLst>
                  <a:cs typeface="Calibri" panose="020F0502020204030204" pitchFamily="34" charset="0"/>
                </a:rPr>
                <a:t>(4 F, 4 M)</a:t>
              </a:r>
            </a:p>
          </p:txBody>
        </p:sp>
        <p:cxnSp>
          <p:nvCxnSpPr>
            <p:cNvPr id="31" name="Straight Arrow Connector 30">
              <a:extLst>
                <a:ext uri="{FF2B5EF4-FFF2-40B4-BE49-F238E27FC236}">
                  <a16:creationId xmlns:a16="http://schemas.microsoft.com/office/drawing/2014/main" id="{1007067B-AB5A-7173-B042-0134B103E79A}"/>
                </a:ext>
              </a:extLst>
            </p:cNvPr>
            <p:cNvCxnSpPr/>
            <p:nvPr/>
          </p:nvCxnSpPr>
          <p:spPr>
            <a:xfrm flipV="1">
              <a:off x="6942675" y="2779847"/>
              <a:ext cx="389467" cy="28839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C3BBF7FA-14DF-B98F-9148-7F8691C3693E}"/>
                </a:ext>
              </a:extLst>
            </p:cNvPr>
            <p:cNvCxnSpPr/>
            <p:nvPr/>
          </p:nvCxnSpPr>
          <p:spPr>
            <a:xfrm>
              <a:off x="6942675" y="3068241"/>
              <a:ext cx="389467" cy="27040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3" name="Rounded Rectangle 54">
              <a:extLst>
                <a:ext uri="{FF2B5EF4-FFF2-40B4-BE49-F238E27FC236}">
                  <a16:creationId xmlns:a16="http://schemas.microsoft.com/office/drawing/2014/main" id="{B03BBBC2-EEB5-4837-D48E-1716CFC3E6F7}"/>
                </a:ext>
              </a:extLst>
            </p:cNvPr>
            <p:cNvSpPr/>
            <p:nvPr/>
          </p:nvSpPr>
          <p:spPr>
            <a:xfrm>
              <a:off x="1985424" y="1498013"/>
              <a:ext cx="1955800" cy="1241432"/>
            </a:xfrm>
            <a:prstGeom prst="roundRect">
              <a:avLst/>
            </a:prstGeom>
            <a:solidFill>
              <a:schemeClr val="bg1">
                <a:lumMod val="50000"/>
              </a:schemeClr>
            </a:solidFill>
            <a:ln w="19050">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effectLst>
                    <a:outerShdw blurRad="38100" dist="38100" dir="2700000" algn="tl">
                      <a:srgbClr val="000000">
                        <a:alpha val="43137"/>
                      </a:srgbClr>
                    </a:outerShdw>
                  </a:effectLst>
                  <a:cs typeface="Calibri" panose="020F0502020204030204" pitchFamily="34" charset="0"/>
                </a:rPr>
                <a:t>NOD mice</a:t>
              </a:r>
            </a:p>
            <a:p>
              <a:pPr algn="ctr"/>
              <a:r>
                <a:rPr lang="en-US" sz="1200" dirty="0">
                  <a:solidFill>
                    <a:schemeClr val="bg1"/>
                  </a:solidFill>
                  <a:effectLst>
                    <a:outerShdw blurRad="38100" dist="38100" dir="2700000" algn="tl">
                      <a:srgbClr val="000000">
                        <a:alpha val="43137"/>
                      </a:srgbClr>
                    </a:outerShdw>
                  </a:effectLst>
                  <a:cs typeface="Calibri" panose="020F0502020204030204" pitchFamily="34" charset="0"/>
                </a:rPr>
                <a:t>Monitor glucose levels</a:t>
              </a:r>
            </a:p>
            <a:p>
              <a:pPr algn="ctr"/>
              <a:r>
                <a:rPr lang="en-US" sz="1200" b="1" dirty="0">
                  <a:solidFill>
                    <a:schemeClr val="bg1"/>
                  </a:solidFill>
                  <a:effectLst>
                    <a:outerShdw blurRad="38100" dist="38100" dir="2700000" algn="tl">
                      <a:srgbClr val="000000">
                        <a:alpha val="43137"/>
                      </a:srgbClr>
                    </a:outerShdw>
                  </a:effectLst>
                  <a:cs typeface="Calibri" panose="020F0502020204030204" pitchFamily="34" charset="0"/>
                </a:rPr>
                <a:t>Collect samples at:</a:t>
              </a:r>
            </a:p>
            <a:p>
              <a:pPr algn="ctr"/>
              <a:r>
                <a:rPr lang="en-US" sz="1200" b="1" dirty="0">
                  <a:solidFill>
                    <a:schemeClr val="bg1"/>
                  </a:solidFill>
                  <a:effectLst>
                    <a:outerShdw blurRad="38100" dist="38100" dir="2700000" algn="tl">
                      <a:srgbClr val="000000">
                        <a:alpha val="43137"/>
                      </a:srgbClr>
                    </a:outerShdw>
                  </a:effectLst>
                  <a:cs typeface="Calibri" panose="020F0502020204030204" pitchFamily="34" charset="0"/>
                </a:rPr>
                <a:t>6, 11, 16, 21, &amp; 26 </a:t>
              </a:r>
              <a:r>
                <a:rPr lang="en-US" sz="1200" b="1" dirty="0" err="1">
                  <a:solidFill>
                    <a:schemeClr val="bg1"/>
                  </a:solidFill>
                  <a:effectLst>
                    <a:outerShdw blurRad="38100" dist="38100" dir="2700000" algn="tl">
                      <a:srgbClr val="000000">
                        <a:alpha val="43137"/>
                      </a:srgbClr>
                    </a:outerShdw>
                  </a:effectLst>
                  <a:cs typeface="Calibri" panose="020F0502020204030204" pitchFamily="34" charset="0"/>
                </a:rPr>
                <a:t>wk</a:t>
              </a:r>
              <a:endParaRPr lang="en-US" sz="1200" b="1" dirty="0">
                <a:solidFill>
                  <a:schemeClr val="bg1"/>
                </a:solidFill>
                <a:effectLst>
                  <a:outerShdw blurRad="38100" dist="38100" dir="2700000" algn="tl">
                    <a:srgbClr val="000000">
                      <a:alpha val="43137"/>
                    </a:srgbClr>
                  </a:outerShdw>
                </a:effectLst>
                <a:cs typeface="Calibri" panose="020F0502020204030204" pitchFamily="34" charset="0"/>
              </a:endParaRPr>
            </a:p>
          </p:txBody>
        </p:sp>
        <p:cxnSp>
          <p:nvCxnSpPr>
            <p:cNvPr id="34" name="Straight Arrow Connector 33">
              <a:extLst>
                <a:ext uri="{FF2B5EF4-FFF2-40B4-BE49-F238E27FC236}">
                  <a16:creationId xmlns:a16="http://schemas.microsoft.com/office/drawing/2014/main" id="{6BE61511-4051-49FE-C1E5-37A820670607}"/>
                </a:ext>
              </a:extLst>
            </p:cNvPr>
            <p:cNvCxnSpPr>
              <a:stCxn id="33" idx="3"/>
              <a:endCxn id="25" idx="1"/>
            </p:cNvCxnSpPr>
            <p:nvPr/>
          </p:nvCxnSpPr>
          <p:spPr>
            <a:xfrm flipV="1">
              <a:off x="3941224" y="1227608"/>
              <a:ext cx="842443" cy="89112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D0B7A76F-EF2B-2730-38C7-4F655BE4A02D}"/>
                </a:ext>
              </a:extLst>
            </p:cNvPr>
            <p:cNvCxnSpPr>
              <a:stCxn id="33" idx="3"/>
              <a:endCxn id="30" idx="1"/>
            </p:cNvCxnSpPr>
            <p:nvPr/>
          </p:nvCxnSpPr>
          <p:spPr>
            <a:xfrm>
              <a:off x="3941224" y="2118729"/>
              <a:ext cx="842443" cy="94951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145509E9-0600-8286-84A1-A1ED879DBC64}"/>
                </a:ext>
              </a:extLst>
            </p:cNvPr>
            <p:cNvSpPr txBox="1"/>
            <p:nvPr/>
          </p:nvSpPr>
          <p:spPr>
            <a:xfrm>
              <a:off x="3904847" y="2280769"/>
              <a:ext cx="1070871" cy="307777"/>
            </a:xfrm>
            <a:prstGeom prst="rect">
              <a:avLst/>
            </a:prstGeom>
            <a:noFill/>
          </p:spPr>
          <p:txBody>
            <a:bodyPr wrap="none" rtlCol="0">
              <a:spAutoFit/>
            </a:bodyPr>
            <a:lstStyle/>
            <a:p>
              <a:r>
                <a:rPr lang="en-US" sz="1400" b="1" dirty="0">
                  <a:solidFill>
                    <a:srgbClr val="FF7D27"/>
                  </a:solidFill>
                  <a:cs typeface="Calibri" panose="020F0502020204030204" pitchFamily="34" charset="0"/>
                </a:rPr>
                <a:t>HG reading</a:t>
              </a:r>
            </a:p>
          </p:txBody>
        </p:sp>
        <p:sp>
          <p:nvSpPr>
            <p:cNvPr id="37" name="Rounded Rectangle 57">
              <a:extLst>
                <a:ext uri="{FF2B5EF4-FFF2-40B4-BE49-F238E27FC236}">
                  <a16:creationId xmlns:a16="http://schemas.microsoft.com/office/drawing/2014/main" id="{31A00919-5408-6B7D-C42F-00E292B05A8E}"/>
                </a:ext>
              </a:extLst>
            </p:cNvPr>
            <p:cNvSpPr/>
            <p:nvPr/>
          </p:nvSpPr>
          <p:spPr>
            <a:xfrm>
              <a:off x="7332142" y="2718199"/>
              <a:ext cx="1794923" cy="224895"/>
            </a:xfrm>
            <a:prstGeom prst="round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cs typeface="Calibri" panose="020F0502020204030204" pitchFamily="34" charset="0"/>
                </a:rPr>
                <a:t>Blood (EDTA, 150 </a:t>
              </a:r>
              <a:r>
                <a:rPr lang="el-GR" sz="1400" dirty="0">
                  <a:solidFill>
                    <a:schemeClr val="tx1"/>
                  </a:solidFill>
                  <a:cs typeface="Calibri" panose="020F0502020204030204" pitchFamily="34" charset="0"/>
                </a:rPr>
                <a:t>μ</a:t>
              </a:r>
              <a:r>
                <a:rPr lang="en-US" sz="1400" dirty="0">
                  <a:solidFill>
                    <a:schemeClr val="tx1"/>
                  </a:solidFill>
                  <a:cs typeface="Calibri" panose="020F0502020204030204" pitchFamily="34" charset="0"/>
                </a:rPr>
                <a:t>L)</a:t>
              </a:r>
            </a:p>
          </p:txBody>
        </p:sp>
        <p:sp>
          <p:nvSpPr>
            <p:cNvPr id="38" name="Rounded Rectangle 58">
              <a:extLst>
                <a:ext uri="{FF2B5EF4-FFF2-40B4-BE49-F238E27FC236}">
                  <a16:creationId xmlns:a16="http://schemas.microsoft.com/office/drawing/2014/main" id="{E7E87450-0153-7DC7-7FE8-6E59CC8A4A48}"/>
                </a:ext>
              </a:extLst>
            </p:cNvPr>
            <p:cNvSpPr/>
            <p:nvPr/>
          </p:nvSpPr>
          <p:spPr>
            <a:xfrm>
              <a:off x="7332142" y="3226198"/>
              <a:ext cx="1794923" cy="224895"/>
            </a:xfrm>
            <a:prstGeom prst="round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cs typeface="Calibri" panose="020F0502020204030204" pitchFamily="34" charset="0"/>
                </a:rPr>
                <a:t>Fecal pellet (200 mg)</a:t>
              </a:r>
            </a:p>
          </p:txBody>
        </p:sp>
        <p:sp>
          <p:nvSpPr>
            <p:cNvPr id="39" name="TextBox 38">
              <a:extLst>
                <a:ext uri="{FF2B5EF4-FFF2-40B4-BE49-F238E27FC236}">
                  <a16:creationId xmlns:a16="http://schemas.microsoft.com/office/drawing/2014/main" id="{9CCB8A81-BB37-3CC0-6CEE-6D45190E5601}"/>
                </a:ext>
              </a:extLst>
            </p:cNvPr>
            <p:cNvSpPr txBox="1"/>
            <p:nvPr/>
          </p:nvSpPr>
          <p:spPr>
            <a:xfrm>
              <a:off x="265807" y="2405022"/>
              <a:ext cx="1316256" cy="984885"/>
            </a:xfrm>
            <a:prstGeom prst="rect">
              <a:avLst/>
            </a:prstGeom>
            <a:noFill/>
          </p:spPr>
          <p:txBody>
            <a:bodyPr wrap="square" rtlCol="0">
              <a:spAutoFit/>
            </a:bodyPr>
            <a:lstStyle/>
            <a:p>
              <a:pPr algn="ctr"/>
              <a:r>
                <a:rPr lang="en-US" sz="1600" b="1" dirty="0">
                  <a:cs typeface="Calibri" panose="020F0502020204030204" pitchFamily="34" charset="0"/>
                </a:rPr>
                <a:t>NOD</a:t>
              </a:r>
            </a:p>
            <a:p>
              <a:pPr algn="ctr"/>
              <a:r>
                <a:rPr lang="en-US" sz="1400" dirty="0">
                  <a:cs typeface="Calibri" panose="020F0502020204030204" pitchFamily="34" charset="0"/>
                </a:rPr>
                <a:t>(4 </a:t>
              </a:r>
              <a:r>
                <a:rPr lang="en-US" sz="1400" dirty="0" err="1">
                  <a:cs typeface="Calibri" panose="020F0502020204030204" pitchFamily="34" charset="0"/>
                </a:rPr>
                <a:t>wk</a:t>
              </a:r>
              <a:r>
                <a:rPr lang="en-US" sz="1400" dirty="0">
                  <a:cs typeface="Calibri" panose="020F0502020204030204" pitchFamily="34" charset="0"/>
                </a:rPr>
                <a:t> old)</a:t>
              </a:r>
            </a:p>
            <a:p>
              <a:pPr algn="ctr"/>
              <a:r>
                <a:rPr lang="en-US" sz="1400" i="1" dirty="0">
                  <a:cs typeface="Calibri" panose="020F0502020204030204" pitchFamily="34" charset="0"/>
                </a:rPr>
                <a:t>n</a:t>
              </a:r>
              <a:r>
                <a:rPr lang="en-US" sz="1400" dirty="0">
                  <a:cs typeface="Calibri" panose="020F0502020204030204" pitchFamily="34" charset="0"/>
                </a:rPr>
                <a:t> = 30 </a:t>
              </a:r>
            </a:p>
            <a:p>
              <a:pPr algn="ctr"/>
              <a:r>
                <a:rPr lang="en-US" sz="1400" dirty="0">
                  <a:cs typeface="Calibri" panose="020F0502020204030204" pitchFamily="34" charset="0"/>
                </a:rPr>
                <a:t>(15 F, 15 M)</a:t>
              </a:r>
            </a:p>
          </p:txBody>
        </p:sp>
        <p:pic>
          <p:nvPicPr>
            <p:cNvPr id="40" name="Picture 2">
              <a:extLst>
                <a:ext uri="{FF2B5EF4-FFF2-40B4-BE49-F238E27FC236}">
                  <a16:creationId xmlns:a16="http://schemas.microsoft.com/office/drawing/2014/main" id="{83997702-9453-4E2F-3BFB-D3F120470E4E}"/>
                </a:ext>
              </a:extLst>
            </p:cNvPr>
            <p:cNvPicPr>
              <a:picLocks noChangeAspect="1" noChangeArrowheads="1"/>
            </p:cNvPicPr>
            <p:nvPr/>
          </p:nvPicPr>
          <p:blipFill>
            <a:blip r:embed="rId7" cstate="print">
              <a:extLst>
                <a:ext uri="{BEBA8EAE-BF5A-486C-A8C5-ECC9F3942E4B}">
                  <a14:imgProps xmlns:a14="http://schemas.microsoft.com/office/drawing/2010/main">
                    <a14:imgLayer r:embed="rId8">
                      <a14:imgEffect>
                        <a14:brightnessContrast contrast="20000"/>
                      </a14:imgEffect>
                    </a14:imgLayer>
                  </a14:imgProps>
                </a:ext>
                <a:ext uri="{28A0092B-C50C-407E-A947-70E740481C1C}">
                  <a14:useLocalDpi xmlns:a14="http://schemas.microsoft.com/office/drawing/2010/main" val="0"/>
                </a:ext>
              </a:extLst>
            </a:blip>
            <a:srcRect/>
            <a:stretch>
              <a:fillRect/>
            </a:stretch>
          </p:blipFill>
          <p:spPr bwMode="auto">
            <a:xfrm>
              <a:off x="1520937" y="1922474"/>
              <a:ext cx="392509" cy="3925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1" name="TextBox 40">
              <a:extLst>
                <a:ext uri="{FF2B5EF4-FFF2-40B4-BE49-F238E27FC236}">
                  <a16:creationId xmlns:a16="http://schemas.microsoft.com/office/drawing/2014/main" id="{9A74F4D2-AE2F-190E-4DEC-CDBF25147ED3}"/>
                </a:ext>
              </a:extLst>
            </p:cNvPr>
            <p:cNvSpPr txBox="1"/>
            <p:nvPr/>
          </p:nvSpPr>
          <p:spPr>
            <a:xfrm>
              <a:off x="3760892" y="2486762"/>
              <a:ext cx="1302546" cy="276999"/>
            </a:xfrm>
            <a:prstGeom prst="rect">
              <a:avLst/>
            </a:prstGeom>
            <a:noFill/>
          </p:spPr>
          <p:txBody>
            <a:bodyPr wrap="square" rtlCol="0">
              <a:spAutoFit/>
            </a:bodyPr>
            <a:lstStyle/>
            <a:p>
              <a:pPr algn="ctr"/>
              <a:r>
                <a:rPr lang="en-US" sz="1200" dirty="0">
                  <a:cs typeface="Calibri" panose="020F0502020204030204" pitchFamily="34" charset="0"/>
                </a:rPr>
                <a:t>(</a:t>
              </a:r>
              <a:r>
                <a:rPr lang="en-US" sz="1200" dirty="0" err="1">
                  <a:cs typeface="Calibri" panose="020F0502020204030204" pitchFamily="34" charset="0"/>
                </a:rPr>
                <a:t>LinBit</a:t>
              </a:r>
              <a:r>
                <a:rPr lang="en-US" sz="1200" dirty="0">
                  <a:cs typeface="Calibri" panose="020F0502020204030204" pitchFamily="34" charset="0"/>
                </a:rPr>
                <a:t> implant)</a:t>
              </a:r>
            </a:p>
          </p:txBody>
        </p:sp>
        <p:cxnSp>
          <p:nvCxnSpPr>
            <p:cNvPr id="42" name="Straight Arrow Connector 41">
              <a:extLst>
                <a:ext uri="{FF2B5EF4-FFF2-40B4-BE49-F238E27FC236}">
                  <a16:creationId xmlns:a16="http://schemas.microsoft.com/office/drawing/2014/main" id="{1CAD9CE0-B02D-79EB-71E7-021757A55016}"/>
                </a:ext>
              </a:extLst>
            </p:cNvPr>
            <p:cNvCxnSpPr/>
            <p:nvPr/>
          </p:nvCxnSpPr>
          <p:spPr>
            <a:xfrm>
              <a:off x="1967623" y="3048009"/>
              <a:ext cx="1991401"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83AC57B9-34AB-72D6-1559-E9B41054E2D3}"/>
                </a:ext>
              </a:extLst>
            </p:cNvPr>
            <p:cNvSpPr txBox="1"/>
            <p:nvPr/>
          </p:nvSpPr>
          <p:spPr>
            <a:xfrm>
              <a:off x="1709963" y="2789128"/>
              <a:ext cx="436338" cy="246221"/>
            </a:xfrm>
            <a:prstGeom prst="rect">
              <a:avLst/>
            </a:prstGeom>
            <a:noFill/>
          </p:spPr>
          <p:txBody>
            <a:bodyPr wrap="none" rtlCol="0">
              <a:spAutoFit/>
            </a:bodyPr>
            <a:lstStyle/>
            <a:p>
              <a:r>
                <a:rPr lang="en-US" sz="1000" b="1" dirty="0">
                  <a:cs typeface="Calibri" panose="020F0502020204030204" pitchFamily="34" charset="0"/>
                </a:rPr>
                <a:t>4 </a:t>
              </a:r>
              <a:r>
                <a:rPr lang="en-US" sz="1000" b="1" dirty="0" err="1">
                  <a:cs typeface="Calibri" panose="020F0502020204030204" pitchFamily="34" charset="0"/>
                </a:rPr>
                <a:t>wk</a:t>
              </a:r>
              <a:endParaRPr lang="en-US" sz="1000" b="1" dirty="0">
                <a:cs typeface="Calibri" panose="020F0502020204030204" pitchFamily="34" charset="0"/>
              </a:endParaRPr>
            </a:p>
          </p:txBody>
        </p:sp>
        <p:sp>
          <p:nvSpPr>
            <p:cNvPr id="44" name="TextBox 43">
              <a:extLst>
                <a:ext uri="{FF2B5EF4-FFF2-40B4-BE49-F238E27FC236}">
                  <a16:creationId xmlns:a16="http://schemas.microsoft.com/office/drawing/2014/main" id="{08360190-27AE-C432-A5D4-7B2B5A00D662}"/>
                </a:ext>
              </a:extLst>
            </p:cNvPr>
            <p:cNvSpPr txBox="1"/>
            <p:nvPr/>
          </p:nvSpPr>
          <p:spPr>
            <a:xfrm>
              <a:off x="3600028" y="2809322"/>
              <a:ext cx="502061" cy="246221"/>
            </a:xfrm>
            <a:prstGeom prst="rect">
              <a:avLst/>
            </a:prstGeom>
            <a:noFill/>
          </p:spPr>
          <p:txBody>
            <a:bodyPr wrap="none" rtlCol="0">
              <a:spAutoFit/>
            </a:bodyPr>
            <a:lstStyle/>
            <a:p>
              <a:r>
                <a:rPr lang="en-US" sz="1000" b="1" dirty="0">
                  <a:cs typeface="Calibri" panose="020F0502020204030204" pitchFamily="34" charset="0"/>
                </a:rPr>
                <a:t>30 </a:t>
              </a:r>
              <a:r>
                <a:rPr lang="en-US" sz="1000" b="1" dirty="0" err="1">
                  <a:cs typeface="Calibri" panose="020F0502020204030204" pitchFamily="34" charset="0"/>
                </a:rPr>
                <a:t>wk</a:t>
              </a:r>
              <a:endParaRPr lang="en-US" sz="1000" b="1" dirty="0">
                <a:cs typeface="Calibri" panose="020F0502020204030204" pitchFamily="34" charset="0"/>
              </a:endParaRPr>
            </a:p>
          </p:txBody>
        </p:sp>
        <p:sp>
          <p:nvSpPr>
            <p:cNvPr id="45" name="Up Arrow 71">
              <a:extLst>
                <a:ext uri="{FF2B5EF4-FFF2-40B4-BE49-F238E27FC236}">
                  <a16:creationId xmlns:a16="http://schemas.microsoft.com/office/drawing/2014/main" id="{FA8A329C-66DD-B1B8-C977-847B4151A8D7}"/>
                </a:ext>
              </a:extLst>
            </p:cNvPr>
            <p:cNvSpPr/>
            <p:nvPr/>
          </p:nvSpPr>
          <p:spPr>
            <a:xfrm>
              <a:off x="2072099" y="3110901"/>
              <a:ext cx="114836" cy="220812"/>
            </a:xfrm>
            <a:prstGeom prst="upArrow">
              <a:avLst/>
            </a:prstGeom>
            <a:solidFill>
              <a:srgbClr val="CC3399"/>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Calibri" panose="020F0502020204030204" pitchFamily="34" charset="0"/>
              </a:endParaRPr>
            </a:p>
          </p:txBody>
        </p:sp>
        <p:sp>
          <p:nvSpPr>
            <p:cNvPr id="46" name="Up Arrow 73">
              <a:extLst>
                <a:ext uri="{FF2B5EF4-FFF2-40B4-BE49-F238E27FC236}">
                  <a16:creationId xmlns:a16="http://schemas.microsoft.com/office/drawing/2014/main" id="{CC13FEE5-A7F8-F54D-75D1-D92B673CC081}"/>
                </a:ext>
              </a:extLst>
            </p:cNvPr>
            <p:cNvSpPr/>
            <p:nvPr/>
          </p:nvSpPr>
          <p:spPr>
            <a:xfrm>
              <a:off x="2464250" y="3110901"/>
              <a:ext cx="114836" cy="220812"/>
            </a:xfrm>
            <a:prstGeom prst="upArrow">
              <a:avLst/>
            </a:prstGeom>
            <a:solidFill>
              <a:srgbClr val="CC3399"/>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Calibri" panose="020F0502020204030204" pitchFamily="34" charset="0"/>
              </a:endParaRPr>
            </a:p>
          </p:txBody>
        </p:sp>
        <p:sp>
          <p:nvSpPr>
            <p:cNvPr id="47" name="Up Arrow 74">
              <a:extLst>
                <a:ext uri="{FF2B5EF4-FFF2-40B4-BE49-F238E27FC236}">
                  <a16:creationId xmlns:a16="http://schemas.microsoft.com/office/drawing/2014/main" id="{25874EC6-628A-04E3-BF9A-E3622CAEA32E}"/>
                </a:ext>
              </a:extLst>
            </p:cNvPr>
            <p:cNvSpPr/>
            <p:nvPr/>
          </p:nvSpPr>
          <p:spPr>
            <a:xfrm>
              <a:off x="2846636" y="3110901"/>
              <a:ext cx="114836" cy="220812"/>
            </a:xfrm>
            <a:prstGeom prst="upArrow">
              <a:avLst/>
            </a:prstGeom>
            <a:solidFill>
              <a:srgbClr val="CC3399"/>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Calibri" panose="020F0502020204030204" pitchFamily="34" charset="0"/>
              </a:endParaRPr>
            </a:p>
          </p:txBody>
        </p:sp>
        <p:sp>
          <p:nvSpPr>
            <p:cNvPr id="48" name="Up Arrow 75">
              <a:extLst>
                <a:ext uri="{FF2B5EF4-FFF2-40B4-BE49-F238E27FC236}">
                  <a16:creationId xmlns:a16="http://schemas.microsoft.com/office/drawing/2014/main" id="{2786FAEA-14F9-B183-2CD1-0D7385B4B962}"/>
                </a:ext>
              </a:extLst>
            </p:cNvPr>
            <p:cNvSpPr/>
            <p:nvPr/>
          </p:nvSpPr>
          <p:spPr>
            <a:xfrm>
              <a:off x="3237559" y="3110901"/>
              <a:ext cx="114836" cy="220812"/>
            </a:xfrm>
            <a:prstGeom prst="upArrow">
              <a:avLst/>
            </a:prstGeom>
            <a:solidFill>
              <a:srgbClr val="CC3399"/>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Calibri" panose="020F0502020204030204" pitchFamily="34" charset="0"/>
              </a:endParaRPr>
            </a:p>
          </p:txBody>
        </p:sp>
        <p:sp>
          <p:nvSpPr>
            <p:cNvPr id="49" name="Up Arrow 76">
              <a:extLst>
                <a:ext uri="{FF2B5EF4-FFF2-40B4-BE49-F238E27FC236}">
                  <a16:creationId xmlns:a16="http://schemas.microsoft.com/office/drawing/2014/main" id="{0749791C-7C65-7019-849C-B5C90A587E63}"/>
                </a:ext>
              </a:extLst>
            </p:cNvPr>
            <p:cNvSpPr/>
            <p:nvPr/>
          </p:nvSpPr>
          <p:spPr>
            <a:xfrm>
              <a:off x="3614177" y="3110901"/>
              <a:ext cx="114836" cy="220812"/>
            </a:xfrm>
            <a:prstGeom prst="upArrow">
              <a:avLst/>
            </a:prstGeom>
            <a:solidFill>
              <a:srgbClr val="CC3399"/>
            </a:solidFill>
            <a:ln>
              <a:no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Calibri" panose="020F0502020204030204" pitchFamily="34" charset="0"/>
              </a:endParaRPr>
            </a:p>
          </p:txBody>
        </p:sp>
        <p:sp>
          <p:nvSpPr>
            <p:cNvPr id="50" name="TextBox 49">
              <a:extLst>
                <a:ext uri="{FF2B5EF4-FFF2-40B4-BE49-F238E27FC236}">
                  <a16:creationId xmlns:a16="http://schemas.microsoft.com/office/drawing/2014/main" id="{3B7803D0-1DFC-4F25-6AB3-44574AD07B99}"/>
                </a:ext>
              </a:extLst>
            </p:cNvPr>
            <p:cNvSpPr txBox="1"/>
            <p:nvPr/>
          </p:nvSpPr>
          <p:spPr>
            <a:xfrm>
              <a:off x="2399459" y="3401370"/>
              <a:ext cx="1223565" cy="246221"/>
            </a:xfrm>
            <a:prstGeom prst="rect">
              <a:avLst/>
            </a:prstGeom>
            <a:noFill/>
          </p:spPr>
          <p:txBody>
            <a:bodyPr wrap="none" rtlCol="0">
              <a:spAutoFit/>
            </a:bodyPr>
            <a:lstStyle/>
            <a:p>
              <a:r>
                <a:rPr lang="en-US" sz="1000" b="1" i="1" dirty="0">
                  <a:cs typeface="Calibri" panose="020F0502020204030204" pitchFamily="34" charset="0"/>
                </a:rPr>
                <a:t>Sample collection</a:t>
              </a:r>
            </a:p>
          </p:txBody>
        </p:sp>
        <p:pic>
          <p:nvPicPr>
            <p:cNvPr id="51" name="Picture 50">
              <a:extLst>
                <a:ext uri="{FF2B5EF4-FFF2-40B4-BE49-F238E27FC236}">
                  <a16:creationId xmlns:a16="http://schemas.microsoft.com/office/drawing/2014/main" id="{04E7341E-55E0-9726-B787-793B90596C4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flipH="1">
              <a:off x="-9444" y="1901558"/>
              <a:ext cx="1426845" cy="434340"/>
            </a:xfrm>
            <a:prstGeom prst="rect">
              <a:avLst/>
            </a:prstGeom>
          </p:spPr>
        </p:pic>
        <p:pic>
          <p:nvPicPr>
            <p:cNvPr id="52" name="Picture 51">
              <a:extLst>
                <a:ext uri="{FF2B5EF4-FFF2-40B4-BE49-F238E27FC236}">
                  <a16:creationId xmlns:a16="http://schemas.microsoft.com/office/drawing/2014/main" id="{52EC9087-FC12-8700-7987-D8ED392E61C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flipH="1">
              <a:off x="3816983" y="1307108"/>
              <a:ext cx="713423" cy="217170"/>
            </a:xfrm>
            <a:prstGeom prst="rect">
              <a:avLst/>
            </a:prstGeom>
          </p:spPr>
        </p:pic>
      </p:grpSp>
      <p:pic>
        <p:nvPicPr>
          <p:cNvPr id="53" name="Picture 52">
            <a:extLst>
              <a:ext uri="{FF2B5EF4-FFF2-40B4-BE49-F238E27FC236}">
                <a16:creationId xmlns:a16="http://schemas.microsoft.com/office/drawing/2014/main" id="{D0CAC8E2-717F-C3E0-128E-353749CFB93E}"/>
              </a:ext>
            </a:extLst>
          </p:cNvPr>
          <p:cNvPicPr>
            <a:picLocks noChangeAspect="1"/>
          </p:cNvPicPr>
          <p:nvPr/>
        </p:nvPicPr>
        <p:blipFill>
          <a:blip r:embed="rId9"/>
          <a:stretch>
            <a:fillRect/>
          </a:stretch>
        </p:blipFill>
        <p:spPr>
          <a:xfrm>
            <a:off x="25459956" y="11948840"/>
            <a:ext cx="10058400" cy="3852636"/>
          </a:xfrm>
          <a:prstGeom prst="rect">
            <a:avLst/>
          </a:prstGeom>
        </p:spPr>
      </p:pic>
      <p:sp>
        <p:nvSpPr>
          <p:cNvPr id="54" name="TextBox 53">
            <a:extLst>
              <a:ext uri="{FF2B5EF4-FFF2-40B4-BE49-F238E27FC236}">
                <a16:creationId xmlns:a16="http://schemas.microsoft.com/office/drawing/2014/main" id="{548F7DB2-45A9-AF34-BD1D-84114735951D}"/>
              </a:ext>
            </a:extLst>
          </p:cNvPr>
          <p:cNvSpPr txBox="1"/>
          <p:nvPr/>
        </p:nvSpPr>
        <p:spPr>
          <a:xfrm>
            <a:off x="25459956" y="15778614"/>
            <a:ext cx="10058400" cy="1107996"/>
          </a:xfrm>
          <a:prstGeom prst="rect">
            <a:avLst/>
          </a:prstGeom>
          <a:noFill/>
        </p:spPr>
        <p:txBody>
          <a:bodyPr wrap="square" lIns="182880" tIns="182880" rIns="182880" bIns="182880" rtlCol="0">
            <a:spAutoFit/>
          </a:bodyPr>
          <a:lstStyle/>
          <a:p>
            <a:pPr algn="just">
              <a:spcBef>
                <a:spcPts val="600"/>
              </a:spcBef>
              <a:spcAft>
                <a:spcPts val="1200"/>
              </a:spcAft>
            </a:pPr>
            <a:r>
              <a:rPr lang="en-US" sz="2400" b="1" dirty="0">
                <a:effectLst/>
                <a:ea typeface="Times New Roman" panose="02020603050405020304" pitchFamily="18" charset="0"/>
                <a:cs typeface="Arial" panose="020B0604020202020204" pitchFamily="34" charset="0"/>
              </a:rPr>
              <a:t>Figure 2</a:t>
            </a:r>
            <a:r>
              <a:rPr lang="en-US" sz="2400" dirty="0">
                <a:effectLst/>
                <a:ea typeface="Times New Roman" panose="02020603050405020304" pitchFamily="18" charset="0"/>
                <a:cs typeface="Arial" panose="020B0604020202020204" pitchFamily="34" charset="0"/>
              </a:rPr>
              <a:t>. Metabolomics study results in NOD mice (after </a:t>
            </a:r>
            <a:r>
              <a:rPr lang="en-US" sz="2400" i="1" dirty="0">
                <a:effectLst/>
                <a:ea typeface="Times New Roman" panose="02020603050405020304" pitchFamily="18" charset="0"/>
                <a:cs typeface="Arial" panose="020B0604020202020204" pitchFamily="34" charset="0"/>
              </a:rPr>
              <a:t>J. Proteome Res.</a:t>
            </a:r>
            <a:r>
              <a:rPr lang="en-US" sz="2400" dirty="0">
                <a:effectLst/>
                <a:ea typeface="Times New Roman" panose="02020603050405020304" pitchFamily="18" charset="0"/>
                <a:cs typeface="Arial" panose="020B0604020202020204" pitchFamily="34" charset="0"/>
              </a:rPr>
              <a:t> 2017, </a:t>
            </a:r>
            <a:r>
              <a:rPr lang="en-US" sz="2400" i="1" dirty="0">
                <a:effectLst/>
                <a:ea typeface="Times New Roman" panose="02020603050405020304" pitchFamily="18" charset="0"/>
                <a:cs typeface="Arial" panose="020B0604020202020204" pitchFamily="34" charset="0"/>
              </a:rPr>
              <a:t>16</a:t>
            </a:r>
            <a:r>
              <a:rPr lang="en-US" sz="2400" dirty="0">
                <a:effectLst/>
                <a:ea typeface="Times New Roman" panose="02020603050405020304" pitchFamily="18" charset="0"/>
                <a:cs typeface="Arial" panose="020B0604020202020204" pitchFamily="34" charset="0"/>
              </a:rPr>
              <a:t>, 3873). </a:t>
            </a:r>
            <a:endParaRPr lang="en-US" sz="2400" dirty="0">
              <a:cs typeface="Arial" panose="020B0604020202020204" pitchFamily="34" charset="0"/>
            </a:endParaRPr>
          </a:p>
        </p:txBody>
      </p:sp>
      <p:pic>
        <p:nvPicPr>
          <p:cNvPr id="3" name="Picture 2" descr="A close up of a sign&#10;&#10;Description automatically generated">
            <a:extLst>
              <a:ext uri="{FF2B5EF4-FFF2-40B4-BE49-F238E27FC236}">
                <a16:creationId xmlns:a16="http://schemas.microsoft.com/office/drawing/2014/main" id="{744BF792-C347-AE82-9011-2FFF2BE9D973}"/>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50263" y="654959"/>
            <a:ext cx="6565336" cy="3080920"/>
          </a:xfrm>
          <a:prstGeom prst="rect">
            <a:avLst/>
          </a:prstGeom>
        </p:spPr>
      </p:pic>
      <p:cxnSp>
        <p:nvCxnSpPr>
          <p:cNvPr id="9" name="Straight Connector 8">
            <a:extLst>
              <a:ext uri="{FF2B5EF4-FFF2-40B4-BE49-F238E27FC236}">
                <a16:creationId xmlns:a16="http://schemas.microsoft.com/office/drawing/2014/main" id="{BEF60C7C-26A1-2FC4-8829-BC0289B99155}"/>
              </a:ext>
            </a:extLst>
          </p:cNvPr>
          <p:cNvCxnSpPr/>
          <p:nvPr/>
        </p:nvCxnSpPr>
        <p:spPr>
          <a:xfrm>
            <a:off x="838200" y="4271683"/>
            <a:ext cx="34812049" cy="0"/>
          </a:xfrm>
          <a:prstGeom prst="line">
            <a:avLst/>
          </a:prstGeom>
          <a:ln w="76200">
            <a:solidFill>
              <a:srgbClr val="F4732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9B132204-7DE5-7305-73BF-4EF74A97E009}"/>
              </a:ext>
            </a:extLst>
          </p:cNvPr>
          <p:cNvSpPr txBox="1"/>
          <p:nvPr/>
        </p:nvSpPr>
        <p:spPr>
          <a:xfrm>
            <a:off x="32432120" y="19329146"/>
            <a:ext cx="2590261" cy="400110"/>
          </a:xfrm>
          <a:prstGeom prst="rect">
            <a:avLst/>
          </a:prstGeom>
          <a:noFill/>
        </p:spPr>
        <p:txBody>
          <a:bodyPr wrap="none" rtlCol="0">
            <a:spAutoFit/>
          </a:bodyPr>
          <a:lstStyle/>
          <a:p>
            <a:pPr algn="ctr"/>
            <a:r>
              <a:rPr lang="en-US" sz="2000" dirty="0"/>
              <a:t>Scan for digital poster</a:t>
            </a:r>
          </a:p>
        </p:txBody>
      </p:sp>
      <p:pic>
        <p:nvPicPr>
          <p:cNvPr id="4" name="Picture 3">
            <a:extLst>
              <a:ext uri="{FF2B5EF4-FFF2-40B4-BE49-F238E27FC236}">
                <a16:creationId xmlns:a16="http://schemas.microsoft.com/office/drawing/2014/main" id="{D2BCC2B8-3C56-0B19-7590-1D0235C15E7E}"/>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32239292" y="16435859"/>
            <a:ext cx="2952750" cy="2952750"/>
          </a:xfrm>
          <a:prstGeom prst="rect">
            <a:avLst/>
          </a:prstGeom>
        </p:spPr>
      </p:pic>
      <p:sp>
        <p:nvSpPr>
          <p:cNvPr id="11" name="Title 1">
            <a:extLst>
              <a:ext uri="{FF2B5EF4-FFF2-40B4-BE49-F238E27FC236}">
                <a16:creationId xmlns:a16="http://schemas.microsoft.com/office/drawing/2014/main" id="{FDDC3B5B-0DF8-B923-356B-1112AE427A07}"/>
              </a:ext>
            </a:extLst>
          </p:cNvPr>
          <p:cNvSpPr txBox="1">
            <a:spLocks/>
          </p:cNvSpPr>
          <p:nvPr/>
        </p:nvSpPr>
        <p:spPr bwMode="auto">
          <a:xfrm>
            <a:off x="30599941" y="2025672"/>
            <a:ext cx="4919017" cy="1828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lvl1pPr algn="ctr" defTabSz="3657600" rtl="0" eaLnBrk="1" latinLnBrk="0" hangingPunct="1">
              <a:lnSpc>
                <a:spcPct val="90000"/>
              </a:lnSpc>
              <a:spcBef>
                <a:spcPct val="0"/>
              </a:spcBef>
              <a:buNone/>
              <a:defRPr sz="24000" kern="1200">
                <a:solidFill>
                  <a:schemeClr val="tx1"/>
                </a:solidFill>
                <a:latin typeface="+mj-lt"/>
                <a:ea typeface="+mj-ea"/>
                <a:cs typeface="+mj-cs"/>
              </a:defRPr>
            </a:lvl1pPr>
          </a:lstStyle>
          <a:p>
            <a:pPr>
              <a:lnSpc>
                <a:spcPct val="100000"/>
              </a:lnSpc>
            </a:pPr>
            <a:r>
              <a:rPr lang="en-US" altLang="en-US" sz="4400" b="1" dirty="0">
                <a:solidFill>
                  <a:srgbClr val="005030"/>
                </a:solidFill>
                <a:latin typeface="+mn-lt"/>
                <a:cs typeface="Arial" panose="020B0604020202020204" pitchFamily="34" charset="0"/>
              </a:rPr>
              <a:t>Capstone Poster</a:t>
            </a:r>
          </a:p>
          <a:p>
            <a:pPr>
              <a:lnSpc>
                <a:spcPct val="100000"/>
              </a:lnSpc>
            </a:pPr>
            <a:r>
              <a:rPr lang="en-US" altLang="en-US" sz="4400" b="1" dirty="0">
                <a:solidFill>
                  <a:srgbClr val="005030"/>
                </a:solidFill>
                <a:latin typeface="+mn-lt"/>
                <a:cs typeface="Arial" panose="020B0604020202020204" pitchFamily="34" charset="0"/>
              </a:rPr>
              <a:t>Symposium </a:t>
            </a:r>
            <a:r>
              <a:rPr lang="en-US" altLang="en-US" sz="4400" b="1" dirty="0">
                <a:solidFill>
                  <a:srgbClr val="F47321"/>
                </a:solidFill>
                <a:latin typeface="+mn-lt"/>
                <a:cs typeface="Arial" panose="020B0604020202020204" pitchFamily="34" charset="0"/>
              </a:rPr>
              <a:t>2026</a:t>
            </a:r>
          </a:p>
        </p:txBody>
      </p:sp>
    </p:spTree>
    <p:extLst>
      <p:ext uri="{BB962C8B-B14F-4D97-AF65-F5344CB8AC3E}">
        <p14:creationId xmlns:p14="http://schemas.microsoft.com/office/powerpoint/2010/main" val="156447399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1295</TotalTime>
  <Words>1024</Words>
  <Application>Microsoft Office PowerPoint</Application>
  <PresentationFormat>Custom</PresentationFormat>
  <Paragraphs>86</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Aptos</vt:lpstr>
      <vt:lpstr>Aptos Display</vt:lpstr>
      <vt:lpstr>Arial</vt:lpstr>
      <vt:lpstr>Calibri</vt:lpstr>
      <vt:lpstr>Times New Roman</vt:lpstr>
      <vt:lpstr>Office Theme</vt:lpstr>
      <vt:lpstr>Title of Poster / Project (Aptos, 66 pt)</vt:lpstr>
    </vt:vector>
  </TitlesOfParts>
  <Company>University of Miami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Buchwald, Peter</dc:creator>
  <cp:lastModifiedBy>Buchwald, Peter</cp:lastModifiedBy>
  <cp:revision>33</cp:revision>
  <dcterms:created xsi:type="dcterms:W3CDTF">2024-02-20T14:27:41Z</dcterms:created>
  <dcterms:modified xsi:type="dcterms:W3CDTF">2026-03-02T18:26:33Z</dcterms:modified>
</cp:coreProperties>
</file>